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Times New Roman Bold" charset="1" panose="02020803070505020304"/>
      <p:regular r:id="rId37"/>
    </p:embeddedFont>
    <p:embeddedFont>
      <p:font typeface="Calibri (MS)" charset="1" panose="020F0502020204030204"/>
      <p:regular r:id="rId38"/>
    </p:embeddedFont>
    <p:embeddedFont>
      <p:font typeface="Calibri (MS) Bold" charset="1" panose="020F0702030404030204"/>
      <p:regular r:id="rId39"/>
    </p:embeddedFont>
    <p:embeddedFont>
      <p:font typeface="Canva Sans" charset="1" panose="020B0503030501040103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60370" y="823687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27630" y="823687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83630" y="-4197058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3425" y="316750"/>
            <a:ext cx="2319356" cy="2319356"/>
          </a:xfrm>
          <a:custGeom>
            <a:avLst/>
            <a:gdLst/>
            <a:ahLst/>
            <a:cxnLst/>
            <a:rect r="r" b="b" t="t" l="l"/>
            <a:pathLst>
              <a:path h="2319356" w="2319356">
                <a:moveTo>
                  <a:pt x="0" y="0"/>
                </a:moveTo>
                <a:lnTo>
                  <a:pt x="2319356" y="0"/>
                </a:lnTo>
                <a:lnTo>
                  <a:pt x="2319356" y="2319356"/>
                </a:lnTo>
                <a:lnTo>
                  <a:pt x="0" y="23193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95219" y="316750"/>
            <a:ext cx="2319356" cy="2319356"/>
          </a:xfrm>
          <a:custGeom>
            <a:avLst/>
            <a:gdLst/>
            <a:ahLst/>
            <a:cxnLst/>
            <a:rect r="r" b="b" t="t" l="l"/>
            <a:pathLst>
              <a:path h="2319356" w="2319356">
                <a:moveTo>
                  <a:pt x="0" y="0"/>
                </a:moveTo>
                <a:lnTo>
                  <a:pt x="2319356" y="0"/>
                </a:lnTo>
                <a:lnTo>
                  <a:pt x="2319356" y="2319356"/>
                </a:lnTo>
                <a:lnTo>
                  <a:pt x="0" y="23193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3425" y="3197980"/>
            <a:ext cx="16541149" cy="147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3"/>
              </a:lnSpc>
              <a:spcBef>
                <a:spcPct val="0"/>
              </a:spcBef>
            </a:pPr>
            <a:r>
              <a:rPr lang="en-US" b="true" sz="4195" spc="41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Investigation of Hydrogen in Sodium and Argon Environments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21360" y="5228724"/>
            <a:ext cx="4432870" cy="167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0"/>
              </a:lnSpc>
              <a:spcBef>
                <a:spcPct val="0"/>
              </a:spcBef>
            </a:pPr>
            <a:r>
              <a:rPr lang="en-US" sz="2350" spc="23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Jyotiraditya Kuanar</a:t>
            </a:r>
          </a:p>
          <a:p>
            <a:pPr algn="ctr">
              <a:lnSpc>
                <a:spcPts val="3290"/>
              </a:lnSpc>
              <a:spcBef>
                <a:spcPct val="0"/>
              </a:spcBef>
            </a:pPr>
            <a:r>
              <a:rPr lang="en-US" sz="2350" spc="23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Junior Research Fellow</a:t>
            </a:r>
          </a:p>
          <a:p>
            <a:pPr algn="ctr">
              <a:lnSpc>
                <a:spcPts val="3290"/>
              </a:lnSpc>
              <a:spcBef>
                <a:spcPct val="0"/>
              </a:spcBef>
            </a:pPr>
            <a:r>
              <a:rPr lang="en-US" sz="2350" spc="23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Computer Science</a:t>
            </a:r>
          </a:p>
          <a:p>
            <a:pPr algn="ctr">
              <a:lnSpc>
                <a:spcPts val="329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73425" y="7204750"/>
            <a:ext cx="3769380" cy="283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 spc="225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Under guidance of</a:t>
            </a:r>
          </a:p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 spc="225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Dr. Rajesh Ganesan</a:t>
            </a:r>
          </a:p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 spc="225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Associate Director, </a:t>
            </a:r>
          </a:p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 spc="225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MC&amp;MFCG </a:t>
            </a:r>
          </a:p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 spc="225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IGCAR, Kalpakkam</a:t>
            </a:r>
          </a:p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608785" y="8362911"/>
            <a:ext cx="3491140" cy="83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 spc="44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17th November 2025</a:t>
            </a:r>
          </a:p>
          <a:p>
            <a:pPr algn="ctr">
              <a:lnSpc>
                <a:spcPts val="31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672364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61803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403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7804" y="1815207"/>
            <a:ext cx="9651799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  <a:r>
              <a:rPr lang="en-US" b="true" sz="3099" strike="noStrike" u="non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Inside a Sodium-Cooled Fast Reactor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7608" y="2855595"/>
            <a:ext cx="15837840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063" indent="-308032" lvl="1">
              <a:lnSpc>
                <a:spcPts val="3994"/>
              </a:lnSpc>
              <a:buFont typeface="Arial"/>
              <a:buChar char="•"/>
            </a:pPr>
            <a:r>
              <a:rPr lang="en-US" sz="2853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nuclear fission reaction in the reactor core generates large amounts of heat in fuel rods.</a:t>
            </a:r>
          </a:p>
          <a:p>
            <a:pPr algn="l" marL="616063" indent="-308032" lvl="1">
              <a:lnSpc>
                <a:spcPts val="3994"/>
              </a:lnSpc>
              <a:buFont typeface="Arial"/>
              <a:buChar char="•"/>
            </a:pPr>
            <a:r>
              <a:rPr lang="en-US" sz="2853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heat is removed by liquid sodium coolant circulating through the reactor core.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7804" y="4787582"/>
            <a:ext cx="9522995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 strike="noStrike" u="non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Sodium Heat Extraction Process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97608" y="5823268"/>
            <a:ext cx="14573964" cy="3565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063" indent="-308032" lvl="1">
              <a:lnSpc>
                <a:spcPts val="3994"/>
              </a:lnSpc>
              <a:spcBef>
                <a:spcPct val="0"/>
              </a:spcBef>
              <a:buFont typeface="Arial"/>
              <a:buChar char="•"/>
            </a:pPr>
            <a:r>
              <a:rPr lang="en-US" sz="2853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Primary sodium loop:</a:t>
            </a:r>
          </a:p>
          <a:p>
            <a:pPr algn="l" marL="616063" indent="-308032" lvl="1">
              <a:lnSpc>
                <a:spcPts val="3994"/>
              </a:lnSpc>
              <a:spcBef>
                <a:spcPct val="0"/>
              </a:spcBef>
              <a:buFont typeface="Arial"/>
              <a:buChar char="•"/>
            </a:pPr>
            <a:r>
              <a:rPr lang="en-US" sz="2853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Hot liquid sodium flows around fuel assemblies, absorbing the fission heat.</a:t>
            </a:r>
          </a:p>
          <a:p>
            <a:pPr algn="l" marL="616063" indent="-308032" lvl="1">
              <a:lnSpc>
                <a:spcPts val="3994"/>
              </a:lnSpc>
              <a:spcBef>
                <a:spcPct val="0"/>
              </a:spcBef>
              <a:buFont typeface="Arial"/>
              <a:buChar char="•"/>
            </a:pPr>
            <a:r>
              <a:rPr lang="en-US" sz="2853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temperature rises to about 525 °C at the reactor outlet.</a:t>
            </a:r>
          </a:p>
          <a:p>
            <a:pPr algn="l" marL="616063" indent="-308032" lvl="1">
              <a:lnSpc>
                <a:spcPts val="3994"/>
              </a:lnSpc>
              <a:spcBef>
                <a:spcPct val="0"/>
              </a:spcBef>
              <a:buFont typeface="Arial"/>
              <a:buChar char="•"/>
            </a:pPr>
            <a:r>
              <a:rPr lang="en-US" sz="2853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heated sodium transfers energy to the secondary sodium loop through an intermediate heat exchanger (IHX).</a:t>
            </a:r>
          </a:p>
          <a:p>
            <a:pPr algn="l" marL="616063" indent="-308032" lvl="1">
              <a:lnSpc>
                <a:spcPts val="3994"/>
              </a:lnSpc>
              <a:spcBef>
                <a:spcPct val="0"/>
              </a:spcBef>
              <a:buFont typeface="Arial"/>
              <a:buChar char="•"/>
            </a:pPr>
            <a:r>
              <a:rPr lang="en-US" sz="2853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separation ensures that radioactive primary sodium never contacts water or steam directly.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327630" y="-36347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672364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7341" y="1766827"/>
            <a:ext cx="3698444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  <a:r>
              <a:rPr lang="en-US" b="true" sz="3099" strike="noStrike" u="non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Steam Generation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6406" y="2406566"/>
            <a:ext cx="10542093" cy="2556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063" indent="-308032" lvl="1">
              <a:lnSpc>
                <a:spcPts val="3994"/>
              </a:lnSpc>
              <a:spcBef>
                <a:spcPct val="0"/>
              </a:spcBef>
              <a:buFont typeface="Arial"/>
              <a:buChar char="•"/>
            </a:pPr>
            <a:r>
              <a:rPr lang="en-US" sz="2853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 the secondary loop, cooler sodium (≈ 355 °C at inlet) flows in the opposite direction.</a:t>
            </a:r>
          </a:p>
          <a:p>
            <a:pPr algn="l" marL="616063" indent="-308032" lvl="1">
              <a:lnSpc>
                <a:spcPts val="3994"/>
              </a:lnSpc>
              <a:spcBef>
                <a:spcPct val="0"/>
              </a:spcBef>
              <a:buFont typeface="Arial"/>
              <a:buChar char="•"/>
            </a:pPr>
            <a:r>
              <a:rPr lang="en-US" sz="2853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heat is transferred from sodium to high-pressure water (≈ 150 bar) in the steam generator, producing superheated steam for the turbine.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90707" y="6254372"/>
            <a:ext cx="10062636" cy="205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063" indent="-308032" lvl="1">
              <a:lnSpc>
                <a:spcPts val="3994"/>
              </a:lnSpc>
              <a:spcBef>
                <a:spcPct val="0"/>
              </a:spcBef>
              <a:buFont typeface="Arial"/>
              <a:buChar char="•"/>
            </a:pPr>
            <a:r>
              <a:rPr lang="en-US" sz="2853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Sodium and water/steam flow in counter-current directions across thin-walled ferritic steel tubes (~3–4 mm thick).</a:t>
            </a:r>
          </a:p>
          <a:p>
            <a:pPr algn="l" marL="616063" indent="-308032" lvl="1">
              <a:lnSpc>
                <a:spcPts val="3994"/>
              </a:lnSpc>
              <a:spcBef>
                <a:spcPct val="0"/>
              </a:spcBef>
              <a:buFont typeface="Arial"/>
              <a:buChar char="•"/>
            </a:pPr>
            <a:r>
              <a:rPr lang="en-US" sz="2853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ensures efficient heat exchange and a strong temperature gradient, maximizing thermal efficiency.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327630" y="-36347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67341" y="5305092"/>
            <a:ext cx="7396888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  <a:r>
              <a:rPr lang="en-US" b="true" sz="3099" strike="noStrike" u="non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Opposite Flow Mechanism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428732" y="3335455"/>
            <a:ext cx="5139415" cy="4282846"/>
          </a:xfrm>
          <a:custGeom>
            <a:avLst/>
            <a:gdLst/>
            <a:ahLst/>
            <a:cxnLst/>
            <a:rect r="r" b="b" t="t" l="l"/>
            <a:pathLst>
              <a:path h="4282846" w="5139415">
                <a:moveTo>
                  <a:pt x="0" y="0"/>
                </a:moveTo>
                <a:lnTo>
                  <a:pt x="5139415" y="0"/>
                </a:lnTo>
                <a:lnTo>
                  <a:pt x="5139415" y="4282846"/>
                </a:lnTo>
                <a:lnTo>
                  <a:pt x="0" y="4282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81989" y="925830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61803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327630" y="-36347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77603" y="3590692"/>
            <a:ext cx="6643265" cy="3105616"/>
          </a:xfrm>
          <a:custGeom>
            <a:avLst/>
            <a:gdLst/>
            <a:ahLst/>
            <a:cxnLst/>
            <a:rect r="r" b="b" t="t" l="l"/>
            <a:pathLst>
              <a:path h="3105616" w="6643265">
                <a:moveTo>
                  <a:pt x="0" y="0"/>
                </a:moveTo>
                <a:lnTo>
                  <a:pt x="6643265" y="0"/>
                </a:lnTo>
                <a:lnTo>
                  <a:pt x="6643265" y="3105616"/>
                </a:lnTo>
                <a:lnTo>
                  <a:pt x="0" y="3105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63" r="0" b="-206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20116" y="2995821"/>
            <a:ext cx="10859260" cy="518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tube defect allows high-pressure steam to leak into hot sodium, triggering the sodium–water reaction.</a:t>
            </a:r>
          </a:p>
          <a:p>
            <a:pPr algn="l">
              <a:lnSpc>
                <a:spcPts val="4059"/>
              </a:lnSpc>
            </a:pP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reaction forms corrosive NaOH, which attacks the leaking tube.</a:t>
            </a:r>
          </a:p>
          <a:p>
            <a:pPr algn="l">
              <a:lnSpc>
                <a:spcPts val="4059"/>
              </a:lnSpc>
            </a:pP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corrosion widens the leak and promotes self-wastage of the tube material.</a:t>
            </a:r>
          </a:p>
          <a:p>
            <a:pPr algn="l">
              <a:lnSpc>
                <a:spcPts val="4059"/>
              </a:lnSpc>
            </a:pP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large pressure gradient and NaOH further erode nearby tubes, causing rapid damage propagation.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36634" y="1669356"/>
            <a:ext cx="14614732" cy="718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08"/>
              </a:lnSpc>
              <a:spcBef>
                <a:spcPct val="0"/>
              </a:spcBef>
            </a:pPr>
            <a:r>
              <a:rPr lang="en-US" sz="2720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Sodium-cooled fast reactors (SFRs) use liquid sodium as coolant and argon as cover gas.</a:t>
            </a:r>
          </a:p>
          <a:p>
            <a:pPr algn="l" marL="0" indent="0" lvl="0">
              <a:lnSpc>
                <a:spcPts val="380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08"/>
              </a:lnSpc>
              <a:spcBef>
                <a:spcPct val="0"/>
              </a:spcBef>
            </a:pPr>
            <a:r>
              <a:rPr lang="en-US" sz="2720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Steam leaks in the sodium-water heat exchanger cause immediate Na–H₂O reactions:</a:t>
            </a:r>
          </a:p>
          <a:p>
            <a:pPr algn="l" marL="0" indent="0" lvl="0">
              <a:lnSpc>
                <a:spcPts val="3808"/>
              </a:lnSpc>
              <a:spcBef>
                <a:spcPct val="0"/>
              </a:spcBef>
            </a:pPr>
            <a:r>
              <a:rPr lang="en-US" sz="2720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                           </a:t>
            </a:r>
          </a:p>
          <a:p>
            <a:pPr algn="l" marL="0" indent="0" lvl="0">
              <a:lnSpc>
                <a:spcPts val="3808"/>
              </a:lnSpc>
              <a:spcBef>
                <a:spcPct val="0"/>
              </a:spcBef>
            </a:pPr>
            <a:r>
              <a:rPr lang="en-US" sz="2720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                                                     </a:t>
            </a:r>
          </a:p>
          <a:p>
            <a:pPr algn="l" marL="0" indent="0" lvl="0">
              <a:lnSpc>
                <a:spcPts val="3808"/>
              </a:lnSpc>
              <a:spcBef>
                <a:spcPct val="0"/>
              </a:spcBef>
            </a:pPr>
            <a:r>
              <a:rPr lang="en-US" sz="2720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generated hydrogen either:</a:t>
            </a:r>
          </a:p>
          <a:p>
            <a:pPr algn="l" marL="0" indent="0" lvl="0">
              <a:lnSpc>
                <a:spcPts val="3808"/>
              </a:lnSpc>
              <a:spcBef>
                <a:spcPct val="0"/>
              </a:spcBef>
            </a:pPr>
          </a:p>
          <a:p>
            <a:pPr algn="l" marL="587249" indent="-293624" lvl="1">
              <a:lnSpc>
                <a:spcPts val="3808"/>
              </a:lnSpc>
              <a:buFont typeface="Arial"/>
              <a:buChar char="•"/>
            </a:pPr>
            <a:r>
              <a:rPr lang="en-US" sz="2720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Escapes to argon cover gas (low T).</a:t>
            </a:r>
          </a:p>
          <a:p>
            <a:pPr algn="l">
              <a:lnSpc>
                <a:spcPts val="3808"/>
              </a:lnSpc>
            </a:pPr>
          </a:p>
          <a:p>
            <a:pPr algn="l" marL="587249" indent="-293624" lvl="1">
              <a:lnSpc>
                <a:spcPts val="3808"/>
              </a:lnSpc>
              <a:buFont typeface="Arial"/>
              <a:buChar char="•"/>
            </a:pPr>
            <a:r>
              <a:rPr lang="en-US" sz="2720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Dissolves in liquid sodium (high T)</a:t>
            </a:r>
          </a:p>
          <a:p>
            <a:pPr algn="l" marL="0" indent="0" lvl="0">
              <a:lnSpc>
                <a:spcPts val="380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0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0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0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08"/>
              </a:lnSpc>
              <a:spcBef>
                <a:spcPct val="0"/>
              </a:spcBef>
            </a:pPr>
            <a:r>
              <a:rPr lang="en-US" sz="2720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Early detection of H₂ is critical for reactor safety and avoiding tube rupture propagation.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522787" y="2818822"/>
            <a:ext cx="7242426" cy="1605632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76196" y="5923218"/>
            <a:ext cx="9535609" cy="210487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07291" y="6943025"/>
            <a:ext cx="6228388" cy="1554062"/>
          </a:xfrm>
          <a:prstGeom prst="rect">
            <a:avLst/>
          </a:prstGeom>
        </p:spPr>
      </p:pic>
      <p:sp>
        <p:nvSpPr>
          <p:cNvPr name="Freeform 17" id="17"/>
          <p:cNvSpPr/>
          <p:nvPr/>
        </p:nvSpPr>
        <p:spPr>
          <a:xfrm flipH="false" flipV="false" rot="0">
            <a:off x="15327630" y="-36347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39783" y="1680887"/>
            <a:ext cx="9640649" cy="7577413"/>
          </a:xfrm>
          <a:custGeom>
            <a:avLst/>
            <a:gdLst/>
            <a:ahLst/>
            <a:cxnLst/>
            <a:rect r="r" b="b" t="t" l="l"/>
            <a:pathLst>
              <a:path h="7577413" w="9640649">
                <a:moveTo>
                  <a:pt x="0" y="0"/>
                </a:moveTo>
                <a:lnTo>
                  <a:pt x="9640649" y="0"/>
                </a:lnTo>
                <a:lnTo>
                  <a:pt x="9640649" y="7577413"/>
                </a:lnTo>
                <a:lnTo>
                  <a:pt x="0" y="7577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8" t="0" r="-848" b="-41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CD</a:t>
            </a: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HM Sensor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27630" y="-36347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CD</a:t>
            </a: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HM Sensor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27630" y="-36347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19704" y="2171711"/>
            <a:ext cx="14753289" cy="6324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thin-walled nickel membrane separates flowing sodium from the high-vacuum region.</a:t>
            </a:r>
          </a:p>
          <a:p>
            <a:pPr algn="l">
              <a:lnSpc>
                <a:spcPts val="4199"/>
              </a:lnSpc>
            </a:pP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Under dynamic high-vacuum conditions, hydrogen diffuses through the hot liquid sodium and enters the vacuum side through the nickel membrane.</a:t>
            </a:r>
          </a:p>
          <a:p>
            <a:pPr algn="l">
              <a:lnSpc>
                <a:spcPts val="4199"/>
              </a:lnSpc>
            </a:pP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high voltage applied in the vacuum region ionizes the diffused hydrogen atoms.</a:t>
            </a:r>
          </a:p>
          <a:p>
            <a:pPr algn="l">
              <a:lnSpc>
                <a:spcPts val="4199"/>
              </a:lnSpc>
            </a:pP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Sputter Ion Pump (SIP) measures the resulting ionic current, which is calibrated to determine hydrogen concentration in sodium.</a:t>
            </a:r>
          </a:p>
          <a:p>
            <a:pPr algn="l">
              <a:lnSpc>
                <a:spcPts val="4199"/>
              </a:lnSpc>
            </a:pP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Quadrupole Mass Spectrometer (QMS) operates alongside the SIP to further analyze and confirm the hydrogen concentration in sodium.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27630" y="-36347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7424407" y="1777901"/>
            <a:ext cx="3439186" cy="7236559"/>
          </a:xfrm>
          <a:custGeom>
            <a:avLst/>
            <a:gdLst/>
            <a:ahLst/>
            <a:cxnLst/>
            <a:rect r="r" b="b" t="t" l="l"/>
            <a:pathLst>
              <a:path h="7236559" w="3439186">
                <a:moveTo>
                  <a:pt x="0" y="0"/>
                </a:moveTo>
                <a:lnTo>
                  <a:pt x="3439186" y="0"/>
                </a:lnTo>
                <a:lnTo>
                  <a:pt x="3439186" y="7236559"/>
                </a:lnTo>
                <a:lnTo>
                  <a:pt x="0" y="7236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66" t="0" r="-3866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ECHM Sensor</a:t>
            </a:r>
          </a:p>
        </p:txBody>
      </p:sp>
      <p:sp>
        <p:nvSpPr>
          <p:cNvPr name="AutoShape 15" id="15"/>
          <p:cNvSpPr/>
          <p:nvPr/>
        </p:nvSpPr>
        <p:spPr>
          <a:xfrm>
            <a:off x="7016762" y="8191527"/>
            <a:ext cx="89149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6" id="16"/>
          <p:cNvSpPr txBox="true"/>
          <p:nvPr/>
        </p:nvSpPr>
        <p:spPr>
          <a:xfrm rot="0">
            <a:off x="5652945" y="7972745"/>
            <a:ext cx="1211416" cy="361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0.5 mm iron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Sensor Materials &amp; Internal Structure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06011" y="3059885"/>
            <a:ext cx="14090712" cy="405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878" indent="-311939" lvl="1">
              <a:lnSpc>
                <a:spcPts val="4045"/>
              </a:lnSpc>
              <a:spcBef>
                <a:spcPct val="0"/>
              </a:spcBef>
              <a:buFont typeface="Arial"/>
              <a:buChar char="•"/>
            </a:pPr>
            <a:r>
              <a:rPr lang="en-US" sz="28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</a:t>
            </a:r>
            <a:r>
              <a:rPr lang="en-US" sz="28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ectrolyte: Solid Ca + CaBr₂ mixture → becomes CaHBr + CaBr₂ when H₂ passes through.</a:t>
            </a:r>
          </a:p>
          <a:p>
            <a:pPr algn="l">
              <a:lnSpc>
                <a:spcPts val="4045"/>
              </a:lnSpc>
              <a:spcBef>
                <a:spcPct val="0"/>
              </a:spcBef>
            </a:pPr>
          </a:p>
          <a:p>
            <a:pPr algn="l" marL="623878" indent="-311939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 Electrode: Biphasic Mixture(Ca, Mg, Ca</a:t>
            </a:r>
            <a:r>
              <a:rPr lang="en-US" sz="28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H₂) prepared on SS rod tip.</a:t>
            </a:r>
          </a:p>
          <a:p>
            <a:pPr algn="l">
              <a:lnSpc>
                <a:spcPts val="4045"/>
              </a:lnSpc>
            </a:pPr>
          </a:p>
          <a:p>
            <a:pPr algn="l" marL="623878" indent="-311939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Electrolyte placed at base of iron casing; electrode inserted using SS rod.</a:t>
            </a:r>
          </a:p>
          <a:p>
            <a:pPr algn="l">
              <a:lnSpc>
                <a:spcPts val="4045"/>
              </a:lnSpc>
            </a:pPr>
          </a:p>
          <a:p>
            <a:pPr algn="l" marL="623878" indent="-311939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  <a:r>
              <a:rPr lang="en-US" sz="28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aluminium spacers added to prevent rod bending and electrical shorting.</a:t>
            </a:r>
          </a:p>
          <a:p>
            <a:pPr algn="l">
              <a:lnSpc>
                <a:spcPts val="3808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741611" y="9153525"/>
            <a:ext cx="2367239" cy="49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SS: Stainless Steel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Working Principle &amp; Sealing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8644" y="2232498"/>
            <a:ext cx="14090712" cy="667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606" indent="-336803" lvl="1">
              <a:lnSpc>
                <a:spcPts val="4367"/>
              </a:lnSpc>
              <a:spcBef>
                <a:spcPct val="0"/>
              </a:spcBef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H₂ diffus</a:t>
            </a: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 through 0.5mm Pure Iron, ionizes at electrolyte surface.</a:t>
            </a:r>
          </a:p>
          <a:p>
            <a:pPr algn="l">
              <a:lnSpc>
                <a:spcPts val="4367"/>
              </a:lnSpc>
              <a:spcBef>
                <a:spcPct val="0"/>
              </a:spcBef>
            </a:pPr>
          </a:p>
          <a:p>
            <a:pPr algn="l" marL="673606" indent="-336803" lvl="1">
              <a:lnSpc>
                <a:spcPts val="4367"/>
              </a:lnSpc>
              <a:spcBef>
                <a:spcPct val="0"/>
              </a:spcBef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Moves toward Ca/CaH₂ electrode, generating a Nernst voltage proportional to H₂ concentration in sodium.</a:t>
            </a:r>
          </a:p>
          <a:p>
            <a:pPr algn="l">
              <a:lnSpc>
                <a:spcPts val="4367"/>
              </a:lnSpc>
              <a:spcBef>
                <a:spcPct val="0"/>
              </a:spcBef>
            </a:pPr>
          </a:p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Voltage measu</a:t>
            </a: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 between SS rod and casing.</a:t>
            </a:r>
          </a:p>
          <a:p>
            <a:pPr algn="l">
              <a:lnSpc>
                <a:spcPts val="4367"/>
              </a:lnSpc>
            </a:pPr>
          </a:p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Casing sealed with Teflon cork + secondary cork to prevent H₂ leakage and ensure long sensor life.</a:t>
            </a:r>
          </a:p>
          <a:p>
            <a:pPr algn="l">
              <a:lnSpc>
                <a:spcPts val="4367"/>
              </a:lnSpc>
            </a:pPr>
          </a:p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Electrode must maintain a 5 mm gap from electrolyte base.</a:t>
            </a:r>
          </a:p>
          <a:p>
            <a:pPr algn="l">
              <a:lnSpc>
                <a:spcPts val="4367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Casting, Cooling &amp; Issues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0715" y="2874298"/>
            <a:ext cx="10775983" cy="4669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0427" indent="-315214" lvl="1">
              <a:lnSpc>
                <a:spcPts val="4087"/>
              </a:lnSpc>
              <a:spcBef>
                <a:spcPct val="0"/>
              </a:spcBef>
              <a:buFont typeface="Arial"/>
              <a:buChar char="•"/>
            </a:pPr>
            <a:r>
              <a:rPr lang="en-US" sz="2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Meter heated</a:t>
            </a:r>
            <a:r>
              <a:rPr lang="en-US" sz="2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to 800 °C (2 hrs) to melt electrolyte; SS rod inserted to marked point (maintains 5 mm gap).</a:t>
            </a:r>
          </a:p>
          <a:p>
            <a:pPr algn="l">
              <a:lnSpc>
                <a:spcPts val="4087"/>
              </a:lnSpc>
              <a:spcBef>
                <a:spcPct val="0"/>
              </a:spcBef>
            </a:pPr>
          </a:p>
          <a:p>
            <a:pPr algn="l" marL="630427" indent="-315214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Cooling done gradually for homogeneous </a:t>
            </a:r>
            <a:r>
              <a:rPr lang="en-US" sz="2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electrolyte distribution.</a:t>
            </a:r>
          </a:p>
          <a:p>
            <a:pPr algn="l">
              <a:lnSpc>
                <a:spcPts val="4087"/>
              </a:lnSpc>
            </a:pPr>
          </a:p>
          <a:p>
            <a:pPr algn="l" marL="630427" indent="-315214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handling may cause cracks.</a:t>
            </a:r>
          </a:p>
          <a:p>
            <a:pPr algn="l">
              <a:lnSpc>
                <a:spcPts val="4087"/>
              </a:lnSpc>
            </a:pPr>
          </a:p>
          <a:p>
            <a:pPr algn="l" marL="630427" indent="-315214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Improper cooling may create voids, affecting calibration &amp; stability.</a:t>
            </a:r>
          </a:p>
          <a:p>
            <a:pPr algn="l">
              <a:lnSpc>
                <a:spcPts val="4087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flipH="true">
            <a:off x="11444409" y="3907269"/>
            <a:ext cx="609094" cy="268605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2053772" y="3897745"/>
            <a:ext cx="1349006" cy="952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3402912" y="3907269"/>
            <a:ext cx="337985" cy="10515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3741032" y="4977838"/>
            <a:ext cx="1349006" cy="952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5107432" y="4995129"/>
            <a:ext cx="258127" cy="57806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5365559" y="5555907"/>
            <a:ext cx="13491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6732548" y="5543513"/>
            <a:ext cx="391478" cy="10498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1444409" y="6593324"/>
            <a:ext cx="567961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3035868" y="6171514"/>
            <a:ext cx="2224536" cy="32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Room Temperature</a:t>
            </a:r>
          </a:p>
        </p:txBody>
      </p:sp>
      <p:sp>
        <p:nvSpPr>
          <p:cNvPr name="TextBox 24" id="24"/>
          <p:cNvSpPr txBox="true"/>
          <p:nvPr/>
        </p:nvSpPr>
        <p:spPr>
          <a:xfrm rot="-4597005">
            <a:off x="10376223" y="5242879"/>
            <a:ext cx="2291762" cy="32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2.4 Hrs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92202" y="3568145"/>
            <a:ext cx="1349275" cy="32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800°C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92202" y="3937891"/>
            <a:ext cx="1349275" cy="32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30 mins</a:t>
            </a:r>
          </a:p>
        </p:txBody>
      </p:sp>
      <p:sp>
        <p:nvSpPr>
          <p:cNvPr name="TextBox 27" id="27"/>
          <p:cNvSpPr txBox="true"/>
          <p:nvPr/>
        </p:nvSpPr>
        <p:spPr>
          <a:xfrm rot="4336028">
            <a:off x="13206765" y="4128196"/>
            <a:ext cx="916407" cy="25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20mins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40763" y="4635525"/>
            <a:ext cx="1349275" cy="32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700°C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69519" y="4962818"/>
            <a:ext cx="2291762" cy="32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 Hr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40786" y="4962818"/>
            <a:ext cx="2291762" cy="32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 Hrs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327630" y="5228238"/>
            <a:ext cx="1349275" cy="32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450°C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856386" y="5580964"/>
            <a:ext cx="2291762" cy="32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 Hr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322971" y="5866128"/>
            <a:ext cx="2291762" cy="32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3.5 Hrs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Sodium Loop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657304"/>
            <a:ext cx="11746746" cy="804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Total sodium inventory: ~8 kg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Loop consists of meter section and cold trap, connected by SS tubes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eter section has six ports; all sections heated by resistance heaters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Electromagnetic pump circulates sodium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Cold trap packed with SS mesh to remove oxides &amp; hydrides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Thermowells in meter and cold trap; thermocouples monitor temperatures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ECHM sensors placed in meter section for response measurement</a:t>
            </a:r>
          </a:p>
          <a:p>
            <a:pPr algn="l">
              <a:lnSpc>
                <a:spcPts val="4227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376353" y="2948228"/>
            <a:ext cx="5606844" cy="4390544"/>
          </a:xfrm>
          <a:custGeom>
            <a:avLst/>
            <a:gdLst/>
            <a:ahLst/>
            <a:cxnLst/>
            <a:rect r="r" b="b" t="t" l="l"/>
            <a:pathLst>
              <a:path h="4390544" w="5606844">
                <a:moveTo>
                  <a:pt x="0" y="0"/>
                </a:moveTo>
                <a:lnTo>
                  <a:pt x="5606844" y="0"/>
                </a:lnTo>
                <a:lnTo>
                  <a:pt x="5606844" y="4390544"/>
                </a:lnTo>
                <a:lnTo>
                  <a:pt x="0" y="4390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Sensor Response Monitoring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3536" y="3346110"/>
            <a:ext cx="14840928" cy="347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5196" indent="-347598" lvl="1">
              <a:lnSpc>
                <a:spcPts val="4507"/>
              </a:lnSpc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32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+ ECHM response tracked during cold trap temperature variations</a:t>
            </a:r>
          </a:p>
          <a:p>
            <a:pPr algn="l">
              <a:lnSpc>
                <a:spcPts val="4507"/>
              </a:lnSpc>
            </a:pPr>
          </a:p>
          <a:p>
            <a:pPr algn="l" marL="695196" indent="-347598" lvl="1">
              <a:lnSpc>
                <a:spcPts val="4507"/>
              </a:lnSpc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Stable EMF recorded at each constant cold trap temperature</a:t>
            </a:r>
          </a:p>
          <a:p>
            <a:pPr algn="l">
              <a:lnSpc>
                <a:spcPts val="4507"/>
              </a:lnSpc>
            </a:pPr>
          </a:p>
          <a:p>
            <a:pPr algn="l" marL="695196" indent="-347598" lvl="1">
              <a:lnSpc>
                <a:spcPts val="4507"/>
              </a:lnSpc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Temperature cycled (heating, cooling, random) for 3 months to ensure reproducibility</a:t>
            </a:r>
          </a:p>
          <a:p>
            <a:pPr algn="l">
              <a:lnSpc>
                <a:spcPts val="4507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ECHM Sensor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8588" y="1879784"/>
            <a:ext cx="12159042" cy="722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</a:t>
            </a: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rengths:</a:t>
            </a:r>
          </a:p>
          <a:p>
            <a:pPr algn="l">
              <a:lnSpc>
                <a:spcPts val="4367"/>
              </a:lnSpc>
              <a:spcBef>
                <a:spcPct val="0"/>
              </a:spcBef>
            </a:pPr>
          </a:p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 sensitivity, compact, low maintenance.</a:t>
            </a:r>
          </a:p>
          <a:p>
            <a:pPr algn="l">
              <a:lnSpc>
                <a:spcPts val="4367"/>
              </a:lnSpc>
            </a:pPr>
          </a:p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Reliable for &gt;450°C reactor conditions.</a:t>
            </a:r>
          </a:p>
          <a:p>
            <a:pPr algn="l">
              <a:lnSpc>
                <a:spcPts val="4367"/>
              </a:lnSpc>
              <a:spcBef>
                <a:spcPct val="0"/>
              </a:spcBef>
            </a:pPr>
          </a:p>
          <a:p>
            <a:pPr algn="l">
              <a:lnSpc>
                <a:spcPts val="4367"/>
              </a:lnSpc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</a:t>
            </a: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imitations:</a:t>
            </a:r>
          </a:p>
          <a:p>
            <a:pPr algn="l">
              <a:lnSpc>
                <a:spcPts val="4367"/>
              </a:lnSpc>
            </a:pPr>
          </a:p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Electrolyte degradation, corrosion, drift over long use.</a:t>
            </a:r>
          </a:p>
          <a:p>
            <a:pPr algn="l">
              <a:lnSpc>
                <a:spcPts val="4367"/>
              </a:lnSpc>
            </a:pPr>
          </a:p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Calibration difficult due to temperature-dependent solubility.</a:t>
            </a:r>
          </a:p>
          <a:p>
            <a:pPr algn="l">
              <a:lnSpc>
                <a:spcPts val="4367"/>
              </a:lnSpc>
            </a:pPr>
          </a:p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Response time slower than gaseous sensors.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Gaps in Sodium Sensor Tech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35192" y="3402095"/>
            <a:ext cx="14217615" cy="3911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EMF drift &amp; temperature nonlinearity </a:t>
            </a:r>
          </a:p>
          <a:p>
            <a:pPr algn="l">
              <a:lnSpc>
                <a:spcPts val="4367"/>
              </a:lnSpc>
            </a:pPr>
          </a:p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Slow sensor dynamics </a:t>
            </a:r>
          </a:p>
          <a:p>
            <a:pPr algn="l">
              <a:lnSpc>
                <a:spcPts val="4367"/>
              </a:lnSpc>
            </a:pPr>
          </a:p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Material degradation reducing the lifetime of the sensor</a:t>
            </a:r>
          </a:p>
          <a:p>
            <a:pPr algn="l">
              <a:lnSpc>
                <a:spcPts val="4367"/>
              </a:lnSpc>
            </a:pPr>
          </a:p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Formation of cracks in the sensor cause irregular readings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Hydrogen in Argon Detection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06011" y="2718013"/>
            <a:ext cx="13078423" cy="431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Below 400°C,</a:t>
            </a: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hydrogen escapes into argon cover gas.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Thermal Conductivity Detector (TCD) and SnO₂ sensor used.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TCD measures difference in thermal conductivity between pure Ar and Ar+H₂.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SnO₂ senses hydrogen when surface oxygen ions (O⁻) react with H₂ to form H₂O, releasing electrons back into the semiconductor and reducing its resistance.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3120630" y="1310208"/>
            <a:ext cx="12046740" cy="8453297"/>
          </a:xfrm>
          <a:custGeom>
            <a:avLst/>
            <a:gdLst/>
            <a:ahLst/>
            <a:cxnLst/>
            <a:rect r="r" b="b" t="t" l="l"/>
            <a:pathLst>
              <a:path h="8453297" w="12046740">
                <a:moveTo>
                  <a:pt x="0" y="0"/>
                </a:moveTo>
                <a:lnTo>
                  <a:pt x="12046740" y="0"/>
                </a:lnTo>
                <a:lnTo>
                  <a:pt x="12046740" y="8453297"/>
                </a:lnTo>
                <a:lnTo>
                  <a:pt x="0" y="8453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HAD Implementation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TCD Operation (Carrier &amp; Sample Flow)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3581" y="1647011"/>
            <a:ext cx="12061470" cy="766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7249" indent="-293624" lvl="1">
              <a:lnSpc>
                <a:spcPts val="3808"/>
              </a:lnSpc>
              <a:buFont typeface="Arial"/>
              <a:buChar char="•"/>
            </a:pPr>
            <a:r>
              <a:rPr lang="en-US" sz="27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TCD uses f</a:t>
            </a:r>
            <a:r>
              <a:rPr lang="en-US" sz="27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our filaments arranged as a Wheatstone bridge: two for reference gas (argon carrier) and two for sample gas (cover gas).</a:t>
            </a:r>
          </a:p>
          <a:p>
            <a:pPr algn="l">
              <a:lnSpc>
                <a:spcPts val="3808"/>
              </a:lnSpc>
            </a:pPr>
          </a:p>
          <a:p>
            <a:pPr algn="l" marL="587249" indent="-293624" lvl="1">
              <a:lnSpc>
                <a:spcPts val="3808"/>
              </a:lnSpc>
              <a:buFont typeface="Arial"/>
              <a:buChar char="•"/>
            </a:pPr>
            <a:r>
              <a:rPr lang="en-US" sz="27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Bypass mode:</a:t>
            </a:r>
          </a:p>
          <a:p>
            <a:pPr algn="l" marL="1174497" indent="-391499" lvl="2">
              <a:lnSpc>
                <a:spcPts val="3808"/>
              </a:lnSpc>
              <a:buFont typeface="Arial"/>
              <a:buChar char="⚬"/>
            </a:pPr>
            <a:r>
              <a:rPr lang="en-US" sz="27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Argon carrier enters the reference side of the TCD.</a:t>
            </a:r>
          </a:p>
          <a:p>
            <a:pPr algn="l" marL="1174497" indent="-391499" lvl="2">
              <a:lnSpc>
                <a:spcPts val="3808"/>
              </a:lnSpc>
              <a:buFont typeface="Arial"/>
              <a:buChar char="⚬"/>
            </a:pPr>
            <a:r>
              <a:rPr lang="en-US" sz="27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bypasses the Ni diffuser assembly (component B).</a:t>
            </a:r>
          </a:p>
          <a:p>
            <a:pPr algn="l" marL="1174497" indent="-391499" lvl="2">
              <a:lnSpc>
                <a:spcPts val="3808"/>
              </a:lnSpc>
              <a:buFont typeface="Arial"/>
              <a:buChar char="⚬"/>
            </a:pPr>
            <a:r>
              <a:rPr lang="en-US" sz="27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returns to the sample side and exits through the outlet tube into the atmosphere.</a:t>
            </a:r>
          </a:p>
          <a:p>
            <a:pPr algn="l">
              <a:lnSpc>
                <a:spcPts val="3808"/>
              </a:lnSpc>
            </a:pPr>
          </a:p>
          <a:p>
            <a:pPr algn="l" marL="587249" indent="-293624" lvl="1">
              <a:lnSpc>
                <a:spcPts val="3808"/>
              </a:lnSpc>
              <a:buFont typeface="Arial"/>
              <a:buChar char="•"/>
            </a:pPr>
            <a:r>
              <a:rPr lang="en-US" sz="27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Sample mode:</a:t>
            </a:r>
          </a:p>
          <a:p>
            <a:pPr algn="l" marL="1174497" indent="-391499" lvl="2">
              <a:lnSpc>
                <a:spcPts val="3808"/>
              </a:lnSpc>
              <a:buFont typeface="Arial"/>
              <a:buChar char="⚬"/>
            </a:pPr>
            <a:r>
              <a:rPr lang="en-US" sz="27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Carrier gas enters the reference side of the TCD.</a:t>
            </a:r>
          </a:p>
          <a:p>
            <a:pPr algn="l" marL="1174497" indent="-391499" lvl="2">
              <a:lnSpc>
                <a:spcPts val="3808"/>
              </a:lnSpc>
              <a:buFont typeface="Arial"/>
              <a:buChar char="⚬"/>
            </a:pPr>
            <a:r>
              <a:rPr lang="en-US" sz="27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flows through the Ni diffuser tube, sweeping any dissolved or leaked H₂.</a:t>
            </a:r>
          </a:p>
          <a:p>
            <a:pPr algn="l" marL="1174497" indent="-391499" lvl="2">
              <a:lnSpc>
                <a:spcPts val="3808"/>
              </a:lnSpc>
              <a:buFont typeface="Arial"/>
              <a:buChar char="⚬"/>
            </a:pPr>
            <a:r>
              <a:rPr lang="en-US" sz="27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then enters the sample side and is vented out.</a:t>
            </a:r>
          </a:p>
          <a:p>
            <a:pPr algn="l">
              <a:lnSpc>
                <a:spcPts val="3808"/>
              </a:lnSpc>
            </a:pPr>
          </a:p>
          <a:p>
            <a:pPr algn="l" marL="587249" indent="-293624" lvl="1">
              <a:lnSpc>
                <a:spcPts val="3808"/>
              </a:lnSpc>
              <a:buFont typeface="Arial"/>
              <a:buChar char="•"/>
            </a:pPr>
            <a:r>
              <a:rPr lang="en-US" sz="27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Flow rate: About 30 ml/min of argon flows through the TCD filaments, previously controlled by an MFC.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383613" y="2247911"/>
            <a:ext cx="5751985" cy="6060128"/>
          </a:xfrm>
          <a:custGeom>
            <a:avLst/>
            <a:gdLst/>
            <a:ahLst/>
            <a:cxnLst/>
            <a:rect r="r" b="b" t="t" l="l"/>
            <a:pathLst>
              <a:path h="6060128" w="5751985">
                <a:moveTo>
                  <a:pt x="0" y="0"/>
                </a:moveTo>
                <a:lnTo>
                  <a:pt x="5751986" y="0"/>
                </a:lnTo>
                <a:lnTo>
                  <a:pt x="5751986" y="6060127"/>
                </a:lnTo>
                <a:lnTo>
                  <a:pt x="0" y="60601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558776" y="8203263"/>
            <a:ext cx="3700524" cy="49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Range: 30ppm - 3000ppm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Metal Oxide Sensor Working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46343" y="2114561"/>
            <a:ext cx="13435646" cy="6344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Formation of surface o</a:t>
            </a: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xygen ions</a:t>
            </a:r>
          </a:p>
          <a:p>
            <a:pPr algn="l">
              <a:lnSpc>
                <a:spcPts val="4479"/>
              </a:lnSpc>
            </a:pP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SnO₂ supplies electrons to the surface:</a:t>
            </a:r>
          </a:p>
          <a:p>
            <a:pPr algn="l" marL="4533894" indent="-647699" lvl="6">
              <a:lnSpc>
                <a:spcPts val="4899"/>
              </a:lnSpc>
              <a:buFont typeface="Arial"/>
              <a:buChar char="￭"/>
            </a:pP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Sn²⁺ → Sn⁴⁺ + 2e⁻</a:t>
            </a:r>
          </a:p>
          <a:p>
            <a:pPr algn="l">
              <a:lnSpc>
                <a:spcPts val="4479"/>
              </a:lnSpc>
            </a:pP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Oxygen adsorbs and forms different ions depending on temperature:</a:t>
            </a:r>
          </a:p>
          <a:p>
            <a:pPr algn="l" marL="2072637" indent="-518159" lvl="3">
              <a:lnSpc>
                <a:spcPts val="4479"/>
              </a:lnSpc>
              <a:buFont typeface="Arial"/>
              <a:buChar char="￭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O⁻ dominates at intermediate temperatures (≈150–300 °C)</a:t>
            </a:r>
          </a:p>
          <a:p>
            <a:pPr algn="l" marL="2072637" indent="-518159" lvl="3">
              <a:lnSpc>
                <a:spcPts val="4479"/>
              </a:lnSpc>
              <a:buFont typeface="Arial"/>
              <a:buChar char="￭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O²⁻ dominates at higher temperatures (≥300 °C)</a:t>
            </a:r>
          </a:p>
          <a:p>
            <a:pPr algn="l">
              <a:lnSpc>
                <a:spcPts val="4479"/>
              </a:lnSpc>
            </a:pP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 ion-formation step:</a:t>
            </a:r>
          </a:p>
          <a:p>
            <a:pPr algn="l" marL="4533884" indent="-647698" lvl="6">
              <a:lnSpc>
                <a:spcPts val="4899"/>
              </a:lnSpc>
              <a:buFont typeface="Arial"/>
              <a:buChar char="￭"/>
            </a:pP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O₂ + e⁻ → O⁻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Metal Oxide Sensor Working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2390788"/>
            <a:ext cx="12821619" cy="649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eaction of hydrogen with surface oxygen</a:t>
            </a:r>
          </a:p>
          <a:p>
            <a:pPr algn="l" marL="1304034" indent="-434678" lvl="2">
              <a:lnSpc>
                <a:spcPts val="4227"/>
              </a:lnSpc>
              <a:buFont typeface="Arial"/>
              <a:buChar char="⚬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Hydrogen reacts with the adsorbed oxygen ions:</a:t>
            </a:r>
          </a:p>
          <a:p>
            <a:pPr algn="l" marL="4300712" indent="-614387" lvl="6">
              <a:lnSpc>
                <a:spcPts val="4647"/>
              </a:lnSpc>
              <a:buFont typeface="Arial"/>
              <a:buChar char="￭"/>
            </a:pPr>
            <a:r>
              <a:rPr lang="en-US" sz="3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H₂ + O⁻ → H₂O + e⁻</a:t>
            </a:r>
          </a:p>
          <a:p>
            <a:pPr algn="l" marL="1304034" indent="-434678" lvl="2">
              <a:lnSpc>
                <a:spcPts val="4227"/>
              </a:lnSpc>
              <a:buFont typeface="Arial"/>
              <a:buChar char="⚬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(At higher temperatures: H₂ + O²⁻ → H₂O + 2e⁻)</a:t>
            </a:r>
          </a:p>
          <a:p>
            <a:pPr algn="l">
              <a:lnSpc>
                <a:spcPts val="4227"/>
              </a:lnSpc>
            </a:pPr>
          </a:p>
          <a:p>
            <a:pPr algn="l">
              <a:lnSpc>
                <a:spcPts val="4227"/>
              </a:lnSpc>
            </a:pP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Effect on sensor signal</a:t>
            </a:r>
          </a:p>
          <a:p>
            <a:pPr algn="l" marL="1304034" indent="-434678" lvl="2">
              <a:lnSpc>
                <a:spcPts val="4227"/>
              </a:lnSpc>
              <a:buFont typeface="Arial"/>
              <a:buChar char="⚬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reaction releases electrons back into SnO₂,</a:t>
            </a:r>
          </a:p>
          <a:p>
            <a:pPr algn="l" marL="1304034" indent="-434678" lvl="2">
              <a:lnSpc>
                <a:spcPts val="4227"/>
              </a:lnSpc>
              <a:buFont typeface="Arial"/>
              <a:buChar char="⚬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reducing t</a:t>
            </a: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 surface depletion layer,</a:t>
            </a:r>
          </a:p>
          <a:p>
            <a:pPr algn="l" marL="1304034" indent="-434678" lvl="2">
              <a:lnSpc>
                <a:spcPts val="4227"/>
              </a:lnSpc>
              <a:buFont typeface="Arial"/>
              <a:buChar char="⚬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causing a drop in resistance, which is detected as the hydrogen signal.</a:t>
            </a:r>
          </a:p>
          <a:p>
            <a:pPr algn="l">
              <a:lnSpc>
                <a:spcPts val="4227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893568" y="2362212"/>
            <a:ext cx="6777361" cy="5486435"/>
          </a:xfrm>
          <a:custGeom>
            <a:avLst/>
            <a:gdLst/>
            <a:ahLst/>
            <a:cxnLst/>
            <a:rect r="r" b="b" t="t" l="l"/>
            <a:pathLst>
              <a:path h="5486435" w="6777361">
                <a:moveTo>
                  <a:pt x="0" y="0"/>
                </a:moveTo>
                <a:lnTo>
                  <a:pt x="6777361" y="0"/>
                </a:lnTo>
                <a:lnTo>
                  <a:pt x="6777361" y="5486435"/>
                </a:lnTo>
                <a:lnTo>
                  <a:pt x="0" y="5486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962420" y="1867497"/>
            <a:ext cx="3331800" cy="46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Range: 10ppm - 1000ppm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Insights from HAD Study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2909" y="2363683"/>
            <a:ext cx="14917751" cy="6447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emperature correction vital to minimize electronic noise.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Carrier gas flow, pressure, and Ni membrane temperature significantly influence hydrogen diffusion across the nickel coil.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HAD sensitivity increased with higher Ni temperature (0.72 V/bar at 798 K).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Stable hydrogen detection requires constant flow, fixed bridge current, and controlled cover-gas pressure, ensuring minimal drift.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Future improvements focus on improved electronics, better shielding, and advanced signal compensation to further reduce noise and enhance reliability.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Cover Gas Gaps &amp; AI Potential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53664" y="2340911"/>
            <a:ext cx="13275977" cy="667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Flow-rate &amp; temperature drift</a:t>
            </a:r>
          </a:p>
          <a:p>
            <a:pPr algn="l" marL="2020819" indent="-505205" lvl="3">
              <a:lnSpc>
                <a:spcPts val="4367"/>
              </a:lnSpc>
              <a:buFont typeface="Arial"/>
              <a:buChar char="￭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Papers show drift from ambient temp &amp; flow sensitivity.</a:t>
            </a:r>
          </a:p>
          <a:p>
            <a:pPr algn="l" marL="1347213" indent="-449071" lvl="2">
              <a:lnSpc>
                <a:spcPts val="4367"/>
              </a:lnSpc>
              <a:buFont typeface="Arial"/>
              <a:buChar char="⚬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AI: Kalman/LSTM filtering for real-time drift correction.</a:t>
            </a:r>
          </a:p>
          <a:p>
            <a:pPr algn="l">
              <a:lnSpc>
                <a:spcPts val="4367"/>
              </a:lnSpc>
            </a:pPr>
          </a:p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TCD/Ni m</a:t>
            </a: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embrane stability</a:t>
            </a:r>
          </a:p>
          <a:p>
            <a:pPr algn="l" marL="2020819" indent="-505205" lvl="3">
              <a:lnSpc>
                <a:spcPts val="4367"/>
              </a:lnSpc>
              <a:buFont typeface="Arial"/>
              <a:buChar char="￭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Filament aging, diffusion efficiency vary with use.</a:t>
            </a:r>
          </a:p>
          <a:p>
            <a:pPr algn="l" marL="1347213" indent="-449071" lvl="2">
              <a:lnSpc>
                <a:spcPts val="4367"/>
              </a:lnSpc>
              <a:buFont typeface="Arial"/>
              <a:buChar char="⚬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AI: Predictive-maintenance models for sensor health.</a:t>
            </a:r>
          </a:p>
          <a:p>
            <a:pPr algn="l">
              <a:lnSpc>
                <a:spcPts val="4367"/>
              </a:lnSpc>
            </a:pPr>
          </a:p>
          <a:p>
            <a:pPr algn="l" marL="673606" indent="-336803" lvl="1">
              <a:lnSpc>
                <a:spcPts val="4367"/>
              </a:lnSpc>
              <a:buFont typeface="Arial"/>
              <a:buChar char="•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Baseline drift</a:t>
            </a:r>
          </a:p>
          <a:p>
            <a:pPr algn="l" marL="2020819" indent="-505205" lvl="3">
              <a:lnSpc>
                <a:spcPts val="4367"/>
              </a:lnSpc>
              <a:buFont typeface="Arial"/>
              <a:buChar char="￭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Uncorrected HAD noise ±230 mV → ±2.4 mV after correction.</a:t>
            </a:r>
          </a:p>
          <a:p>
            <a:pPr algn="l" marL="1347213" indent="-449071" lvl="2">
              <a:lnSpc>
                <a:spcPts val="4367"/>
              </a:lnSpc>
              <a:buFont typeface="Arial"/>
              <a:buChar char="⚬"/>
            </a:pPr>
            <a:r>
              <a:rPr lang="en-US" sz="31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AI: Denoising autoencoders for continuous baseline correction.</a:t>
            </a:r>
          </a:p>
          <a:p>
            <a:pPr algn="l">
              <a:lnSpc>
                <a:spcPts val="4367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Effect of Ambient Temperature on MFC &amp; HAD Output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8881" y="3082495"/>
            <a:ext cx="15632139" cy="53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Liquid sodium temperature in the plant varies between 473–773 K, with higher temperatures during normal operation.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causes ambient temperature variation between 300–323 K.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Ambient temperature changes affect the Mass Flow Controller (MFC) performance.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Temperature variation introduces thermal noise, disturbing the HAD (Hydrogen-in-Argon Detector) output.</a:t>
            </a:r>
          </a:p>
          <a:p>
            <a:pPr algn="l">
              <a:lnSpc>
                <a:spcPts val="4227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Major Gap Area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99203" y="2345661"/>
            <a:ext cx="15144808" cy="6447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 &gt;400 °C, due to fast</a:t>
            </a: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 reaction kinetics, NaOH and H₂ react quickly with sodium → hydrogen dissolves rapidly → use ECHM/SIP to monitor dissolved H₂.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 &lt;300 °C, reaction kinetics are slow → hydrogen does not dissolve fully → escapes into argon cover gas → use TCD/SnO₂ to monitor gaseous H₂.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 the 250–400 °C transition zone, both gaseous and dissolved hydrogen coexist → dual sensor responses (SnO₂/TCD + ECHM/SIP) cause ambiguous or delayed detection.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established correlation between hydrogen concentration, electromagnetic impulse, and temperature in this transition region.</a:t>
            </a:r>
          </a:p>
          <a:p>
            <a:pPr algn="l">
              <a:lnSpc>
                <a:spcPts val="4227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47166" y="281411"/>
            <a:ext cx="6593668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Usage and Implementation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57333" y="2114561"/>
            <a:ext cx="15373333" cy="740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Signal Interpretation &amp; Noise Reduction</a:t>
            </a:r>
          </a:p>
          <a:p>
            <a:pPr algn="l">
              <a:lnSpc>
                <a:spcPts val="4059"/>
              </a:lnSpc>
            </a:pP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can remove baseline drift caused by temperature, flow-rate changes, and corrosion using LSTM, Gaussian Processes, or Kalman-NN models.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can enhance weak or noisy signals using denoising autoencoders or adaptive filters to reliably detect low-level or transient H₂ events.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Calibration &amp; Compensation</a:t>
            </a:r>
          </a:p>
          <a:p>
            <a:pPr algn="l">
              <a:lnSpc>
                <a:spcPts val="4479"/>
              </a:lnSpc>
            </a:pP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models can learn complex calibration curves (neural nets, SVR - Support Vector Regression), reducing or eliminating frequent manual calibration.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Physics-informed ML can automatically compensate for variations in temperature, sodium purity, and impurity levels using combined thermodynamics + empirical data.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47166" y="281411"/>
            <a:ext cx="6593668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Usage and Implementation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19255" y="2114561"/>
            <a:ext cx="15373333" cy="7352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Sensor Health Monitoring &amp; Predictive Maintenance</a:t>
            </a:r>
          </a:p>
          <a:p>
            <a:pPr algn="l">
              <a:lnSpc>
                <a:spcPts val="4059"/>
              </a:lnSpc>
            </a:pP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can detect early electrolyte degradation or electrode poisoning by identifying anomalies in EMF/TCD baseline patterns.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can optimize recalibration intervals using drift trend analysis and reinforcement learning, extending sensor life.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Fusion &amp; Virtual Hydrogen Sensing</a:t>
            </a:r>
          </a:p>
          <a:p>
            <a:pPr algn="l">
              <a:lnSpc>
                <a:spcPts val="4059"/>
              </a:lnSpc>
            </a:pP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can fuse data from TCD, ECHM, pressure, and temperature sensors to generate a virtual hydrogen sensor that remains stable even when one sensor drifts.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Hybrid p</a:t>
            </a: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hysics + ML can estimate real-time hydrogen concentration even with sparse, slow, or delayed CDHM measurements.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6879" y="8915400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47166" y="281411"/>
            <a:ext cx="6593668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Usage and Implementation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7333" y="2114561"/>
            <a:ext cx="15373333" cy="7352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Anomaly &amp; Leak Detection</a:t>
            </a:r>
          </a:p>
          <a:p>
            <a:pPr algn="l">
              <a:lnSpc>
                <a:spcPts val="4059"/>
              </a:lnSpc>
            </a:pP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Time-series </a:t>
            </a: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can detect rapid Na–H₂O reaction leaks by identifying sudden deviations in EMF, sodium temperature, or pressure.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High-frequen</a:t>
            </a: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cy pattern detection can detect tiny hydrogen ingress events below manual threshold limits.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Design &amp; Optimization</a:t>
            </a:r>
          </a:p>
          <a:p>
            <a:pPr algn="l">
              <a:lnSpc>
                <a:spcPts val="4059"/>
              </a:lnSpc>
            </a:pP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AI-driven materials search can identify corrosion-resistant electrolytes and durable electrode materials for future ECHM/TCD sensors.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AI-assisted CFD surrogate models can optimize sensor geometr</a:t>
            </a: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 and flow pat</a:t>
            </a: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hs, improving response time, sensitivity, and long-term stability.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Hydrogen Management System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5135" y="2373208"/>
            <a:ext cx="15632139" cy="621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7"/>
              </a:lnSpc>
            </a:pPr>
            <a:r>
              <a:rPr lang="en-US" sz="2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centralized web-based platform for real-time hydrogen monitoring and safety.</a:t>
            </a:r>
          </a:p>
          <a:p>
            <a:pPr algn="l">
              <a:lnSpc>
                <a:spcPts val="4087"/>
              </a:lnSpc>
            </a:pPr>
          </a:p>
          <a:p>
            <a:pPr algn="l" marL="630427" indent="-315214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Continuously tracks hydrogen levels from sensors installed in critical areas</a:t>
            </a:r>
          </a:p>
          <a:p>
            <a:pPr algn="l">
              <a:lnSpc>
                <a:spcPts val="4087"/>
              </a:lnSpc>
            </a:pPr>
          </a:p>
          <a:p>
            <a:pPr algn="l" marL="630427" indent="-315214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instant visibility throug</a:t>
            </a:r>
            <a:r>
              <a:rPr lang="en-US" sz="2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 a simple, user-friendly web dashboard</a:t>
            </a:r>
          </a:p>
          <a:p>
            <a:pPr algn="l">
              <a:lnSpc>
                <a:spcPts val="4087"/>
              </a:lnSpc>
            </a:pPr>
          </a:p>
          <a:p>
            <a:pPr algn="l" marL="630427" indent="-315214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Sends alerts during abnormal hydrogen buildup to support quick decision-making</a:t>
            </a:r>
          </a:p>
          <a:p>
            <a:pPr algn="l">
              <a:lnSpc>
                <a:spcPts val="4087"/>
              </a:lnSpc>
            </a:pPr>
          </a:p>
          <a:p>
            <a:pPr algn="l" marL="630427" indent="-315214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Enhances plant safety, reduces manual monitoring, and ensures early detection of hazards</a:t>
            </a:r>
          </a:p>
          <a:p>
            <a:pPr algn="l">
              <a:lnSpc>
                <a:spcPts val="4087"/>
              </a:lnSpc>
            </a:pPr>
          </a:p>
          <a:p>
            <a:pPr algn="l" marL="630427" indent="-315214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Scalable solution that can integrate multiple sensors and multiple plant zones</a:t>
            </a:r>
          </a:p>
          <a:p>
            <a:pPr algn="l">
              <a:lnSpc>
                <a:spcPts val="4087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45916" y="2634549"/>
            <a:ext cx="14596168" cy="585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6785" indent="-358393" lvl="1">
              <a:lnSpc>
                <a:spcPts val="4647"/>
              </a:lnSpc>
              <a:buFont typeface="Arial"/>
              <a:buChar char="•"/>
            </a:pPr>
            <a:r>
              <a:rPr lang="en-US" sz="3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Reliabl</a:t>
            </a:r>
            <a:r>
              <a:rPr lang="en-US" sz="3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multi-environment hydrogen monitoring method.</a:t>
            </a:r>
          </a:p>
          <a:p>
            <a:pPr algn="l">
              <a:lnSpc>
                <a:spcPts val="4647"/>
              </a:lnSpc>
            </a:pPr>
          </a:p>
          <a:p>
            <a:pPr algn="l" marL="716785" indent="-358393" lvl="1">
              <a:lnSpc>
                <a:spcPts val="4647"/>
              </a:lnSpc>
              <a:buFont typeface="Arial"/>
              <a:buChar char="•"/>
            </a:pPr>
            <a:r>
              <a:rPr lang="en-US" sz="3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Established relation between temperature, Hydrogen conc. and Electrical Impulse at temperatures 250 °C – 400 °C</a:t>
            </a:r>
          </a:p>
          <a:p>
            <a:pPr algn="l">
              <a:lnSpc>
                <a:spcPts val="4647"/>
              </a:lnSpc>
            </a:pPr>
          </a:p>
          <a:p>
            <a:pPr algn="l" marL="716785" indent="-358393" lvl="1">
              <a:lnSpc>
                <a:spcPts val="4647"/>
              </a:lnSpc>
              <a:buFont typeface="Arial"/>
              <a:buChar char="•"/>
            </a:pPr>
            <a:r>
              <a:rPr lang="en-US" sz="3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Improved accuracy, stability, and detection limits (&lt;30 ppm).</a:t>
            </a:r>
          </a:p>
          <a:p>
            <a:pPr algn="l">
              <a:lnSpc>
                <a:spcPts val="4647"/>
              </a:lnSpc>
            </a:pPr>
          </a:p>
          <a:p>
            <a:pPr algn="l" marL="716785" indent="-358393" lvl="1">
              <a:lnSpc>
                <a:spcPts val="4647"/>
              </a:lnSpc>
              <a:buFont typeface="Arial"/>
              <a:buChar char="•"/>
            </a:pPr>
            <a:r>
              <a:rPr lang="en-US" sz="3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AI-assisted calibration and drift correction.</a:t>
            </a:r>
          </a:p>
          <a:p>
            <a:pPr algn="l">
              <a:lnSpc>
                <a:spcPts val="4647"/>
              </a:lnSpc>
            </a:pPr>
          </a:p>
          <a:p>
            <a:pPr algn="l" marL="716785" indent="-358393" lvl="1">
              <a:lnSpc>
                <a:spcPts val="4647"/>
              </a:lnSpc>
              <a:buFont typeface="Arial"/>
              <a:buChar char="•"/>
            </a:pPr>
            <a:r>
              <a:rPr lang="en-US" sz="3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Framework for fail-safe sodium reactor health monitoring.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020" y="9014460"/>
            <a:ext cx="1097280" cy="243840"/>
            <a:chOff x="0" y="0"/>
            <a:chExt cx="1463040" cy="325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25120" cy="325120"/>
              <a:chOff x="0" y="0"/>
              <a:chExt cx="64221" cy="642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68960" y="0"/>
              <a:ext cx="325120" cy="325120"/>
              <a:chOff x="0" y="0"/>
              <a:chExt cx="64221" cy="64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37920" y="0"/>
              <a:ext cx="325120" cy="325120"/>
              <a:chOff x="0" y="0"/>
              <a:chExt cx="64221" cy="64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221" cy="64221"/>
              </a:xfrm>
              <a:custGeom>
                <a:avLst/>
                <a:gdLst/>
                <a:ahLst/>
                <a:cxnLst/>
                <a:rect r="r" b="b" t="t" l="l"/>
                <a:pathLst>
                  <a:path h="64221" w="64221">
                    <a:moveTo>
                      <a:pt x="0" y="0"/>
                    </a:moveTo>
                    <a:lnTo>
                      <a:pt x="64221" y="0"/>
                    </a:lnTo>
                    <a:lnTo>
                      <a:pt x="64221" y="64221"/>
                    </a:lnTo>
                    <a:lnTo>
                      <a:pt x="0" y="6422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4221" cy="10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2506011" y="398518"/>
            <a:ext cx="13275977" cy="71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2"/>
              </a:lnSpc>
              <a:spcBef>
                <a:spcPct val="0"/>
              </a:spcBef>
            </a:pPr>
            <a:r>
              <a:rPr lang="en-US" b="true" sz="40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Integrated Methodology &amp; Future Scope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3503" y="3339838"/>
            <a:ext cx="16040098" cy="378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Combi</a:t>
            </a: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 sodium (ECHM) and argon (HAD/TCD) sensor data for holistic leak detection.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sensor fusion models to correlate H₂ dynamics across phases.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 AI-driven signal correction and digital twin simulation for predictive safety.</a:t>
            </a:r>
          </a:p>
          <a:p>
            <a:pPr algn="l">
              <a:lnSpc>
                <a:spcPts val="4227"/>
              </a:lnSpc>
            </a:pPr>
          </a:p>
          <a:p>
            <a:pPr algn="l" marL="652017" indent="-326008" lvl="1">
              <a:lnSpc>
                <a:spcPts val="4227"/>
              </a:lnSpc>
              <a:buFont typeface="Arial"/>
              <a:buChar char="•"/>
            </a:pPr>
            <a:r>
              <a:rPr lang="en-US" sz="30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a “Hydrogen Health Index” indicating reactor leak likelihood in real time.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27630" y="-3672829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079126">
            <a:off x="-2641168" y="8207045"/>
            <a:ext cx="5930041" cy="5930041"/>
          </a:xfrm>
          <a:custGeom>
            <a:avLst/>
            <a:gdLst/>
            <a:ahLst/>
            <a:cxnLst/>
            <a:rect r="r" b="b" t="t" l="l"/>
            <a:pathLst>
              <a:path h="5930041" w="5930041">
                <a:moveTo>
                  <a:pt x="0" y="0"/>
                </a:moveTo>
                <a:lnTo>
                  <a:pt x="5930041" y="0"/>
                </a:lnTo>
                <a:lnTo>
                  <a:pt x="5930041" y="5930041"/>
                </a:lnTo>
                <a:lnTo>
                  <a:pt x="0" y="5930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36517" y="-3749616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94306" y="7907660"/>
            <a:ext cx="6044566" cy="6044566"/>
          </a:xfrm>
          <a:custGeom>
            <a:avLst/>
            <a:gdLst/>
            <a:ahLst/>
            <a:cxnLst/>
            <a:rect r="r" b="b" t="t" l="l"/>
            <a:pathLst>
              <a:path h="6044566" w="6044566">
                <a:moveTo>
                  <a:pt x="0" y="0"/>
                </a:moveTo>
                <a:lnTo>
                  <a:pt x="6044566" y="0"/>
                </a:lnTo>
                <a:lnTo>
                  <a:pt x="6044566" y="6044566"/>
                </a:lnTo>
                <a:lnTo>
                  <a:pt x="0" y="6044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83630" y="-4224287"/>
            <a:ext cx="5920740" cy="5920740"/>
          </a:xfrm>
          <a:custGeom>
            <a:avLst/>
            <a:gdLst/>
            <a:ahLst/>
            <a:cxnLst/>
            <a:rect r="r" b="b" t="t" l="l"/>
            <a:pathLst>
              <a:path h="5920740" w="5920740">
                <a:moveTo>
                  <a:pt x="0" y="0"/>
                </a:moveTo>
                <a:lnTo>
                  <a:pt x="5920740" y="0"/>
                </a:lnTo>
                <a:lnTo>
                  <a:pt x="5920740" y="5920740"/>
                </a:lnTo>
                <a:lnTo>
                  <a:pt x="0" y="5920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728369" y="4013104"/>
            <a:ext cx="8530931" cy="150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280"/>
              </a:lnSpc>
            </a:pPr>
            <a:r>
              <a:rPr lang="en-US" b="true" sz="101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3379474" y="7755259"/>
            <a:ext cx="6044566" cy="6044566"/>
          </a:xfrm>
          <a:custGeom>
            <a:avLst/>
            <a:gdLst/>
            <a:ahLst/>
            <a:cxnLst/>
            <a:rect r="r" b="b" t="t" l="l"/>
            <a:pathLst>
              <a:path h="6044566" w="6044566">
                <a:moveTo>
                  <a:pt x="0" y="0"/>
                </a:moveTo>
                <a:lnTo>
                  <a:pt x="6044566" y="0"/>
                </a:lnTo>
                <a:lnTo>
                  <a:pt x="6044566" y="6044566"/>
                </a:lnTo>
                <a:lnTo>
                  <a:pt x="0" y="6044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DAG4URi7PTs</dc:identifier>
  <dcterms:modified xsi:type="dcterms:W3CDTF">2011-08-01T06:04:30Z</dcterms:modified>
  <cp:revision>1</cp:revision>
  <dc:title>Presentation of PhD thesis to Guide</dc:title>
</cp:coreProperties>
</file>