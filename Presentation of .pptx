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Cy Grotesk Grand" charset="1" panose="00000507000000000000"/>
      <p:regular r:id="rId15"/>
    </p:embeddedFont>
    <p:embeddedFont>
      <p:font typeface="Alexandria Bold" charset="1" panose="00000000000000000000"/>
      <p:regular r:id="rId16"/>
    </p:embeddedFont>
    <p:embeddedFont>
      <p:font typeface="Garet" charset="1" panose="00000000000000000000"/>
      <p:regular r:id="rId17"/>
    </p:embeddedFont>
    <p:embeddedFont>
      <p:font typeface="Garet Bold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5400000">
            <a:off x="13890343" y="5516388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212327">
            <a:off x="-1633813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-2020970" y="4706943"/>
            <a:ext cx="7684967" cy="7684967"/>
          </a:xfrm>
          <a:custGeom>
            <a:avLst/>
            <a:gdLst/>
            <a:ahLst/>
            <a:cxnLst/>
            <a:rect r="r" b="b" t="t" l="l"/>
            <a:pathLst>
              <a:path h="7684967" w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true" rot="-176744">
            <a:off x="12281842" y="-3234705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true" rot="0">
            <a:off x="12348517" y="-3496396"/>
            <a:ext cx="6992792" cy="6992792"/>
          </a:xfrm>
          <a:custGeom>
            <a:avLst/>
            <a:gdLst/>
            <a:ahLst/>
            <a:cxnLst/>
            <a:rect r="r" b="b" t="t" l="l"/>
            <a:pathLst>
              <a:path h="6992792" w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5278619" y="7505570"/>
            <a:ext cx="7730761" cy="2367162"/>
            <a:chOff x="0" y="0"/>
            <a:chExt cx="2036085" cy="62345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6085" cy="623450"/>
            </a:xfrm>
            <a:custGeom>
              <a:avLst/>
              <a:gdLst/>
              <a:ahLst/>
              <a:cxnLst/>
              <a:rect r="r" b="b" t="t" l="l"/>
              <a:pathLst>
                <a:path h="623450" w="2036085">
                  <a:moveTo>
                    <a:pt x="57082" y="0"/>
                  </a:moveTo>
                  <a:lnTo>
                    <a:pt x="1979003" y="0"/>
                  </a:lnTo>
                  <a:cubicBezTo>
                    <a:pt x="2010529" y="0"/>
                    <a:pt x="2036085" y="25557"/>
                    <a:pt x="2036085" y="57082"/>
                  </a:cubicBezTo>
                  <a:lnTo>
                    <a:pt x="2036085" y="566368"/>
                  </a:lnTo>
                  <a:cubicBezTo>
                    <a:pt x="2036085" y="581507"/>
                    <a:pt x="2030071" y="596026"/>
                    <a:pt x="2019366" y="606731"/>
                  </a:cubicBezTo>
                  <a:cubicBezTo>
                    <a:pt x="2008661" y="617436"/>
                    <a:pt x="1994142" y="623450"/>
                    <a:pt x="1979003" y="623450"/>
                  </a:cubicBezTo>
                  <a:lnTo>
                    <a:pt x="57082" y="623450"/>
                  </a:lnTo>
                  <a:cubicBezTo>
                    <a:pt x="25557" y="623450"/>
                    <a:pt x="0" y="597893"/>
                    <a:pt x="0" y="566368"/>
                  </a:cubicBezTo>
                  <a:lnTo>
                    <a:pt x="0" y="57082"/>
                  </a:lnTo>
                  <a:cubicBezTo>
                    <a:pt x="0" y="41943"/>
                    <a:pt x="6014" y="27424"/>
                    <a:pt x="16719" y="16719"/>
                  </a:cubicBezTo>
                  <a:cubicBezTo>
                    <a:pt x="27424" y="6014"/>
                    <a:pt x="41943" y="0"/>
                    <a:pt x="57082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104775"/>
              <a:ext cx="2036085" cy="7282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17"/>
                </a:lnSpc>
              </a:pPr>
              <a:r>
                <a:rPr lang="en-US" sz="2069" spc="374">
                  <a:solidFill>
                    <a:srgbClr val="FFFFFF"/>
                  </a:solidFill>
                  <a:latin typeface="Cy Grotesk Grand"/>
                  <a:ea typeface="Cy Grotesk Grand"/>
                  <a:cs typeface="Cy Grotesk Grand"/>
                  <a:sym typeface="Cy Grotesk Grand"/>
                </a:rPr>
                <a:t>UNDER GUIDANCE OF </a:t>
              </a:r>
            </a:p>
            <a:p>
              <a:pPr algn="ctr">
                <a:lnSpc>
                  <a:spcPts val="3517"/>
                </a:lnSpc>
              </a:pPr>
              <a:r>
                <a:rPr lang="en-US" sz="2069" spc="374">
                  <a:solidFill>
                    <a:srgbClr val="FFFFFF"/>
                  </a:solidFill>
                  <a:latin typeface="Cy Grotesk Grand"/>
                  <a:ea typeface="Cy Grotesk Grand"/>
                  <a:cs typeface="Cy Grotesk Grand"/>
                  <a:sym typeface="Cy Grotesk Grand"/>
                </a:rPr>
                <a:t>DR RAJESH GANESAN</a:t>
              </a:r>
            </a:p>
            <a:p>
              <a:pPr algn="ctr">
                <a:lnSpc>
                  <a:spcPts val="3517"/>
                </a:lnSpc>
              </a:pPr>
              <a:r>
                <a:rPr lang="en-US" sz="2069" spc="374">
                  <a:solidFill>
                    <a:srgbClr val="FFFFFF"/>
                  </a:solidFill>
                  <a:latin typeface="Cy Grotesk Grand"/>
                  <a:ea typeface="Cy Grotesk Grand"/>
                  <a:cs typeface="Cy Grotesk Grand"/>
                  <a:sym typeface="Cy Grotesk Grand"/>
                </a:rPr>
                <a:t>ASSOCIATE DIRECTOR</a:t>
              </a:r>
            </a:p>
            <a:p>
              <a:pPr algn="ctr">
                <a:lnSpc>
                  <a:spcPts val="3517"/>
                </a:lnSpc>
              </a:pPr>
              <a:r>
                <a:rPr lang="en-US" sz="2069" spc="374">
                  <a:solidFill>
                    <a:srgbClr val="FFFFFF"/>
                  </a:solidFill>
                  <a:latin typeface="Cy Grotesk Grand"/>
                  <a:ea typeface="Cy Grotesk Grand"/>
                  <a:cs typeface="Cy Grotesk Grand"/>
                  <a:sym typeface="Cy Grotesk Grand"/>
                </a:rPr>
                <a:t>SO/H, MCD, MC&amp;MFCG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3269080" y="513339"/>
            <a:ext cx="2394918" cy="2245235"/>
          </a:xfrm>
          <a:custGeom>
            <a:avLst/>
            <a:gdLst/>
            <a:ahLst/>
            <a:cxnLst/>
            <a:rect r="r" b="b" t="t" l="l"/>
            <a:pathLst>
              <a:path h="2245235" w="2394918">
                <a:moveTo>
                  <a:pt x="0" y="0"/>
                </a:moveTo>
                <a:lnTo>
                  <a:pt x="2394918" y="0"/>
                </a:lnTo>
                <a:lnTo>
                  <a:pt x="2394918" y="2245235"/>
                </a:lnTo>
                <a:lnTo>
                  <a:pt x="0" y="224523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159925" y="301995"/>
            <a:ext cx="2684988" cy="2667923"/>
          </a:xfrm>
          <a:custGeom>
            <a:avLst/>
            <a:gdLst/>
            <a:ahLst/>
            <a:cxnLst/>
            <a:rect r="r" b="b" t="t" l="l"/>
            <a:pathLst>
              <a:path h="2667923" w="2684988">
                <a:moveTo>
                  <a:pt x="0" y="0"/>
                </a:moveTo>
                <a:lnTo>
                  <a:pt x="2684988" y="0"/>
                </a:lnTo>
                <a:lnTo>
                  <a:pt x="2684988" y="2667923"/>
                </a:lnTo>
                <a:lnTo>
                  <a:pt x="0" y="266792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44312" y="3118591"/>
            <a:ext cx="16494681" cy="2934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b="true" sz="559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UNDERSTANDING OF SODIUM LOOP </a:t>
            </a:r>
          </a:p>
          <a:p>
            <a:pPr algn="ctr">
              <a:lnSpc>
                <a:spcPts val="7839"/>
              </a:lnSpc>
            </a:pPr>
            <a:r>
              <a:rPr lang="en-US" b="true" sz="559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AND</a:t>
            </a:r>
          </a:p>
          <a:p>
            <a:pPr algn="ctr">
              <a:lnSpc>
                <a:spcPts val="7839"/>
              </a:lnSpc>
            </a:pPr>
            <a:r>
              <a:rPr lang="en-US" b="true" sz="5599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GAPS IN HSD AND HSD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062982" y="6266529"/>
            <a:ext cx="10162036" cy="772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By Jyotiraditya Kuanar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5665101" y="535575"/>
            <a:ext cx="7541781" cy="89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5"/>
              </a:lnSpc>
            </a:pPr>
            <a:r>
              <a:rPr lang="en-US" b="true" sz="524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SODIUM LOOP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19061" y="2438169"/>
            <a:ext cx="9904195" cy="58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21"/>
              </a:lnSpc>
              <a:spcBef>
                <a:spcPct val="0"/>
              </a:spcBef>
            </a:pPr>
            <a:r>
              <a:rPr lang="en-US" b="true" sz="34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Reactor Heat Transfer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664288" y="3213023"/>
            <a:ext cx="9222652" cy="1737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693" indent="-266847" lvl="1">
              <a:lnSpc>
                <a:spcPts val="3460"/>
              </a:lnSpc>
              <a:buFont typeface="Arial"/>
              <a:buChar char="•"/>
            </a:pPr>
            <a:r>
              <a:rPr lang="en-US" sz="24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Reactor uses primary and secondary sodium loops to transfer heat from fuel rods to steam generators.</a:t>
            </a:r>
          </a:p>
          <a:p>
            <a:pPr algn="l" marL="533693" indent="-266847" lvl="1">
              <a:lnSpc>
                <a:spcPts val="3460"/>
              </a:lnSpc>
              <a:buFont typeface="Arial"/>
              <a:buChar char="•"/>
            </a:pPr>
            <a:r>
              <a:rPr lang="en-US" sz="24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Heat moves from primary → secondary loop via the Intermediate Heat Exchanger (IHX), then to steam.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19061" y="5842472"/>
            <a:ext cx="6633845" cy="5887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821"/>
              </a:lnSpc>
              <a:spcBef>
                <a:spcPct val="0"/>
              </a:spcBef>
            </a:pPr>
            <a:r>
              <a:rPr lang="en-US" b="true" sz="3443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Need for Sodium Purification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64288" y="6616192"/>
            <a:ext cx="8975745" cy="2175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3693" indent="-266847" lvl="1">
              <a:lnSpc>
                <a:spcPts val="3460"/>
              </a:lnSpc>
              <a:spcBef>
                <a:spcPct val="0"/>
              </a:spcBef>
              <a:buFont typeface="Arial"/>
              <a:buChar char="•"/>
            </a:pPr>
            <a:r>
              <a:rPr lang="en-US" sz="2471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Sodium purity degrades due to formation of hydrides and oxides from dissolved hydrogen and oxygen at high temperatures.</a:t>
            </a:r>
          </a:p>
          <a:p>
            <a:pPr algn="l" marL="533693" indent="-266847" lvl="1">
              <a:lnSpc>
                <a:spcPts val="3460"/>
              </a:lnSpc>
              <a:spcBef>
                <a:spcPct val="0"/>
              </a:spcBef>
              <a:buFont typeface="Arial"/>
              <a:buChar char="•"/>
            </a:pPr>
            <a:r>
              <a:rPr lang="en-US" sz="2471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Impurities must be removed to maintain safe and efficient reactor operation.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1026777" y="2505253"/>
            <a:ext cx="6232523" cy="5875451"/>
          </a:xfrm>
          <a:custGeom>
            <a:avLst/>
            <a:gdLst/>
            <a:ahLst/>
            <a:cxnLst/>
            <a:rect r="r" b="b" t="t" l="l"/>
            <a:pathLst>
              <a:path h="5875451" w="6232523">
                <a:moveTo>
                  <a:pt x="0" y="0"/>
                </a:moveTo>
                <a:lnTo>
                  <a:pt x="6232523" y="0"/>
                </a:lnTo>
                <a:lnTo>
                  <a:pt x="6232523" y="5875451"/>
                </a:lnTo>
                <a:lnTo>
                  <a:pt x="0" y="587545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4913401" y="535575"/>
            <a:ext cx="8585471" cy="89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5"/>
              </a:lnSpc>
            </a:pPr>
            <a:r>
              <a:rPr lang="en-US" b="true" sz="524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SODIUM LOOP(CONTD.)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253087" y="7643052"/>
            <a:ext cx="15236984" cy="12351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104" indent="-256052" lvl="1">
              <a:lnSpc>
                <a:spcPts val="3320"/>
              </a:lnSpc>
              <a:buFont typeface="Arial"/>
              <a:buChar char="•"/>
            </a:pPr>
            <a:r>
              <a:rPr lang="en-US" sz="2371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Constant sodium flow through cold trap is essential.</a:t>
            </a:r>
          </a:p>
          <a:p>
            <a:pPr algn="l" marL="512104" indent="-256052" lvl="1">
              <a:lnSpc>
                <a:spcPts val="3320"/>
              </a:lnSpc>
              <a:spcBef>
                <a:spcPct val="0"/>
              </a:spcBef>
              <a:buFont typeface="Arial"/>
              <a:buChar char="•"/>
            </a:pPr>
            <a:r>
              <a:rPr lang="en-US" sz="2371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20% drop in flow (from plugging indicator) signals mesh saturation and need for regeneration.</a:t>
            </a:r>
          </a:p>
          <a:p>
            <a:pPr algn="l" marL="512104" indent="-256052" lvl="1">
              <a:lnSpc>
                <a:spcPts val="3320"/>
              </a:lnSpc>
              <a:spcBef>
                <a:spcPct val="0"/>
              </a:spcBef>
              <a:buFont typeface="Arial"/>
              <a:buChar char="•"/>
            </a:pPr>
            <a:r>
              <a:rPr lang="en-US" sz="2371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Heat removal rate must match reactor heat generation for stable operating temperature.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55267" y="2067592"/>
            <a:ext cx="6191885" cy="57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1"/>
              </a:lnSpc>
              <a:spcBef>
                <a:spcPct val="0"/>
              </a:spcBef>
            </a:pPr>
            <a:r>
              <a:rPr lang="en-US" b="true" sz="3343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Cold Trap Working Principle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253087" y="2860851"/>
            <a:ext cx="15754423" cy="1654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104" indent="-256052" lvl="1">
              <a:lnSpc>
                <a:spcPts val="3320"/>
              </a:lnSpc>
              <a:spcBef>
                <a:spcPct val="0"/>
              </a:spcBef>
              <a:buFont typeface="Arial"/>
              <a:buChar char="•"/>
            </a:pPr>
            <a:r>
              <a:rPr lang="en-US" sz="2371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Sodium is cooled from ≈525 °C to ≈120 °C inside the cold trap.</a:t>
            </a:r>
          </a:p>
          <a:p>
            <a:pPr algn="l" marL="512104" indent="-256052" lvl="1">
              <a:lnSpc>
                <a:spcPts val="3320"/>
              </a:lnSpc>
              <a:spcBef>
                <a:spcPct val="0"/>
              </a:spcBef>
              <a:buFont typeface="Arial"/>
              <a:buChar char="•"/>
            </a:pPr>
            <a:r>
              <a:rPr lang="en-US" sz="2371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Lower temperature reduces impurity solubility (per Vissers &amp; Noden equation), causing hydrides/oxides to crystallize.</a:t>
            </a:r>
          </a:p>
          <a:p>
            <a:pPr algn="l" marL="512104" indent="-256052" lvl="1">
              <a:lnSpc>
                <a:spcPts val="3320"/>
              </a:lnSpc>
              <a:spcBef>
                <a:spcPct val="0"/>
              </a:spcBef>
              <a:buFont typeface="Arial"/>
              <a:buChar char="•"/>
            </a:pPr>
            <a:r>
              <a:rPr lang="en-US" sz="2371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Sodium flows through stainless-steel mesh, which traps the crystals; purified sodium exits the trap.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5267" y="4824018"/>
            <a:ext cx="10316687" cy="57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1"/>
              </a:lnSpc>
              <a:spcBef>
                <a:spcPct val="0"/>
              </a:spcBef>
            </a:pPr>
            <a:r>
              <a:rPr lang="en-US" b="true" sz="3343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Sources of Hydrogen During Normal Operation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253087" y="5692903"/>
            <a:ext cx="15306040" cy="816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104" indent="-256052" lvl="1">
              <a:lnSpc>
                <a:spcPts val="3320"/>
              </a:lnSpc>
              <a:spcBef>
                <a:spcPct val="0"/>
              </a:spcBef>
              <a:buFont typeface="Arial"/>
              <a:buChar char="•"/>
            </a:pPr>
            <a:r>
              <a:rPr lang="en-US" sz="2371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Even without leaks, steam reacts with iron in steam generator tubes → iron oxide + hydrogen.</a:t>
            </a:r>
          </a:p>
          <a:p>
            <a:pPr algn="l" marL="512104" indent="-256052" lvl="1">
              <a:lnSpc>
                <a:spcPts val="3320"/>
              </a:lnSpc>
              <a:spcBef>
                <a:spcPct val="0"/>
              </a:spcBef>
              <a:buFont typeface="Arial"/>
              <a:buChar char="•"/>
            </a:pPr>
            <a:r>
              <a:rPr lang="en-US" sz="2371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Hydrogen diffuses into sodium and is detected; may cause false alarms without proper trapping.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055267" y="6876341"/>
            <a:ext cx="5892800" cy="5722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681"/>
              </a:lnSpc>
              <a:spcBef>
                <a:spcPct val="0"/>
              </a:spcBef>
            </a:pPr>
            <a:r>
              <a:rPr lang="en-US" b="true" sz="3343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Operational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6558469" y="1997406"/>
            <a:ext cx="4862931" cy="7107922"/>
          </a:xfrm>
          <a:custGeom>
            <a:avLst/>
            <a:gdLst/>
            <a:ahLst/>
            <a:cxnLst/>
            <a:rect r="r" b="b" t="t" l="l"/>
            <a:pathLst>
              <a:path h="7107922" w="4862931">
                <a:moveTo>
                  <a:pt x="0" y="0"/>
                </a:moveTo>
                <a:lnTo>
                  <a:pt x="4862931" y="0"/>
                </a:lnTo>
                <a:lnTo>
                  <a:pt x="4862931" y="7107922"/>
                </a:lnTo>
                <a:lnTo>
                  <a:pt x="0" y="71079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546" t="0" r="-2606" b="-1411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362371" y="535575"/>
            <a:ext cx="10371848" cy="8909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45"/>
              </a:lnSpc>
            </a:pPr>
            <a:r>
              <a:rPr lang="en-US" b="true" sz="524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SODIUM LOOP(STRUCTURE)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2046122" y="1245713"/>
            <a:ext cx="16012303" cy="70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6"/>
              </a:lnSpc>
            </a:pPr>
            <a:r>
              <a:rPr lang="en-US" b="true" sz="414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SODIUM LOOP(REACTIONS THAT CAUSE HYDROGEN)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75748" y="3178480"/>
            <a:ext cx="7287125" cy="2230856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816722" y="6034280"/>
            <a:ext cx="7242426" cy="1605632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3426424" y="3015305"/>
            <a:ext cx="2806763" cy="55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41"/>
              </a:lnSpc>
              <a:spcBef>
                <a:spcPct val="0"/>
              </a:spcBef>
            </a:pPr>
            <a:r>
              <a:rPr lang="en-US" b="true" sz="3243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Unavoidable: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02568" y="5393482"/>
            <a:ext cx="2254475" cy="555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541"/>
              </a:lnSpc>
              <a:spcBef>
                <a:spcPct val="0"/>
              </a:spcBef>
            </a:pPr>
            <a:r>
              <a:rPr lang="en-US" b="true" sz="3243" strike="noStrike" u="non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Avoidable: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46997" y="324413"/>
            <a:ext cx="16012303" cy="70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6"/>
              </a:lnSpc>
            </a:pPr>
            <a:r>
              <a:rPr lang="en-US" b="true" sz="414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GAPS IN SENSORS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620133" y="1941506"/>
            <a:ext cx="11488667" cy="298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487" indent="-265244" lvl="1">
              <a:lnSpc>
                <a:spcPts val="6142"/>
              </a:lnSpc>
              <a:buFont typeface="Arial"/>
              <a:buChar char="•"/>
            </a:pP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Cracks/pores in electrolyte and iron casing cause drift.</a:t>
            </a:r>
          </a:p>
          <a:p>
            <a:pPr algn="l" marL="530487" indent="-265244" lvl="1">
              <a:lnSpc>
                <a:spcPts val="6142"/>
              </a:lnSpc>
              <a:buFont typeface="Arial"/>
              <a:buChar char="•"/>
            </a:pP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Voids lead to unstable EMF and poor repeatability.</a:t>
            </a:r>
          </a:p>
          <a:p>
            <a:pPr algn="l" marL="530487" indent="-265244" lvl="1">
              <a:lnSpc>
                <a:spcPts val="6142"/>
              </a:lnSpc>
              <a:buFont typeface="Arial"/>
              <a:buChar char="•"/>
            </a:pP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Sensor lifetime limited by corrosion and material degradation.</a:t>
            </a:r>
          </a:p>
          <a:p>
            <a:pPr algn="l" marL="530487" indent="-265244" lvl="1">
              <a:lnSpc>
                <a:spcPts val="6142"/>
              </a:lnSpc>
              <a:buFont typeface="Arial"/>
              <a:buChar char="•"/>
            </a:pP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Need to explore new electrolytes and hydrogen‑diffusion materials.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20133" y="1237219"/>
            <a:ext cx="1777365" cy="71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6"/>
              </a:lnSpc>
              <a:spcBef>
                <a:spcPct val="0"/>
              </a:spcBef>
            </a:pPr>
            <a:r>
              <a:rPr lang="en-US" b="true" sz="4147" strike="noStrike" u="non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ECHM: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508055" y="5057775"/>
            <a:ext cx="1000760" cy="7138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6"/>
              </a:lnSpc>
              <a:spcBef>
                <a:spcPct val="0"/>
              </a:spcBef>
            </a:pPr>
            <a:r>
              <a:rPr lang="en-US" b="true" sz="4147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SIP</a:t>
            </a:r>
            <a:r>
              <a:rPr lang="en-US" b="true" sz="4147" strike="noStrike" u="non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0133" y="5762062"/>
            <a:ext cx="14974284" cy="298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487" indent="-265244" lvl="1">
              <a:lnSpc>
                <a:spcPts val="6142"/>
              </a:lnSpc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Other gases interfere and the sensor reacts slowly to hydrogen changes.</a:t>
            </a:r>
          </a:p>
          <a:p>
            <a:pPr algn="l" marL="530487" indent="-265244" lvl="1">
              <a:lnSpc>
                <a:spcPts val="6142"/>
              </a:lnSpc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Needs very high heat to operate, causing drift and material damage.</a:t>
            </a:r>
          </a:p>
          <a:p>
            <a:pPr algn="l" marL="530487" indent="-265244" lvl="1">
              <a:lnSpc>
                <a:spcPts val="6142"/>
              </a:lnSpc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Electrodes get poisoned, materials degrade, sealing is difficult, and calibration is complex.</a:t>
            </a:r>
          </a:p>
          <a:p>
            <a:pPr algn="l" marL="530487" indent="-265244" lvl="1">
              <a:lnSpc>
                <a:spcPts val="6142"/>
              </a:lnSpc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Hard to miniaturize and poses safety risks when used with hot hydrogen environments.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246997" y="324413"/>
            <a:ext cx="16012303" cy="704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6"/>
              </a:lnSpc>
            </a:pPr>
            <a:r>
              <a:rPr lang="en-US" b="true" sz="414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GAPS IN SENSORS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848154" y="1674401"/>
            <a:ext cx="15005718" cy="3468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488" indent="-265244" lvl="1">
              <a:lnSpc>
                <a:spcPts val="3439"/>
              </a:lnSpc>
              <a:spcBef>
                <a:spcPct val="0"/>
              </a:spcBef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Tempe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ra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ture-de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nde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nsi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ivi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y: TCD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and 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SnO₂ output var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es st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ron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gly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 250–400°C tr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si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tio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re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ion.</a:t>
            </a:r>
          </a:p>
          <a:p>
            <a:pPr algn="l" marL="530488" indent="-265244" lvl="1">
              <a:lnSpc>
                <a:spcPts val="3439"/>
              </a:lnSpc>
              <a:spcBef>
                <a:spcPct val="0"/>
              </a:spcBef>
              <a:buFont typeface="Arial"/>
              <a:buChar char="•"/>
            </a:pP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Flow-rate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&amp; 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mbi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nt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drift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: MFC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mper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atu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 se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ns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ivity c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us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lin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e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ins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tability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</a:t>
            </a: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 HAD output.</a:t>
            </a:r>
          </a:p>
          <a:p>
            <a:pPr algn="l" marL="530488" indent="-265244" lvl="1">
              <a:lnSpc>
                <a:spcPts val="3439"/>
              </a:lnSpc>
              <a:spcBef>
                <a:spcPct val="0"/>
              </a:spcBef>
              <a:buFont typeface="Arial"/>
              <a:buChar char="•"/>
            </a:pP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Nickel coil aging: Oxidation reduces hydrogen diffusion efficiency and slows response time.</a:t>
            </a:r>
          </a:p>
          <a:p>
            <a:pPr algn="l" marL="530488" indent="-265244" lvl="1">
              <a:lnSpc>
                <a:spcPts val="3439"/>
              </a:lnSpc>
              <a:spcBef>
                <a:spcPct val="0"/>
              </a:spcBef>
              <a:buFont typeface="Arial"/>
              <a:buChar char="•"/>
            </a:pPr>
            <a:r>
              <a:rPr lang="en-US" sz="2457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TCD baseline drift: Uncorrected drift up to ±200 mV makes detection of low ppm hydrogen unreliable.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848154" y="942975"/>
            <a:ext cx="1321323" cy="71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6"/>
              </a:lnSpc>
              <a:spcBef>
                <a:spcPct val="0"/>
              </a:spcBef>
            </a:pPr>
            <a:r>
              <a:rPr lang="en-US" b="true" sz="4147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TCD: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848154" y="5293988"/>
            <a:ext cx="1606126" cy="713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806"/>
              </a:lnSpc>
              <a:spcBef>
                <a:spcPct val="0"/>
              </a:spcBef>
            </a:pPr>
            <a:r>
              <a:rPr lang="en-US" b="true" sz="4147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SnO2</a:t>
            </a:r>
            <a:r>
              <a:rPr lang="en-US" b="true" sz="4147" strike="noStrike" u="none">
                <a:solidFill>
                  <a:srgbClr val="3F3D3E"/>
                </a:solidFill>
                <a:latin typeface="Garet Bold"/>
                <a:ea typeface="Garet Bold"/>
                <a:cs typeface="Garet Bold"/>
                <a:sym typeface="Garet Bold"/>
              </a:rPr>
              <a:t>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873028" y="6193003"/>
            <a:ext cx="15289499" cy="3033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0488" indent="-265244" lvl="1">
              <a:lnSpc>
                <a:spcPts val="3439"/>
              </a:lnSpc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SnO₂ instability: Surface poisoning, humidity sensitivity, and long-term resistance drift affect accuracy.</a:t>
            </a:r>
          </a:p>
          <a:p>
            <a:pPr algn="l" marL="530488" indent="-265244" lvl="1">
              <a:lnSpc>
                <a:spcPts val="3439"/>
              </a:lnSpc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 correlation model: No established relationship between argon-phase H₂, sodium-phase H₂, EMF, and temperature.</a:t>
            </a:r>
          </a:p>
          <a:p>
            <a:pPr algn="l" marL="530488" indent="-265244" lvl="1">
              <a:lnSpc>
                <a:spcPts val="3439"/>
              </a:lnSpc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Response-time mismatch: TCD and SnO₂ respond at different speeds; synchronisation is not established.</a:t>
            </a:r>
          </a:p>
          <a:p>
            <a:pPr algn="l" marL="530488" indent="-265244" lvl="1">
              <a:lnSpc>
                <a:spcPts val="3439"/>
              </a:lnSpc>
              <a:spcBef>
                <a:spcPct val="0"/>
              </a:spcBef>
              <a:buFont typeface="Arial"/>
              <a:buChar char="•"/>
            </a:pPr>
            <a:r>
              <a:rPr lang="en-US" sz="245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Life-time Issues: Short lifespan at full operating condition. 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" id="5"/>
          <p:cNvSpPr txBox="true"/>
          <p:nvPr/>
        </p:nvSpPr>
        <p:spPr>
          <a:xfrm rot="0">
            <a:off x="1137848" y="324386"/>
            <a:ext cx="16012303" cy="704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6"/>
              </a:lnSpc>
            </a:pPr>
            <a:r>
              <a:rPr lang="en-US" b="true" sz="4147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EXPO TECH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05518" y="1513977"/>
            <a:ext cx="6076964" cy="411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956" indent="-360978" lvl="1">
              <a:lnSpc>
                <a:spcPts val="4681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Hydrogen Sensor:</a:t>
            </a:r>
          </a:p>
          <a:p>
            <a:pPr algn="l">
              <a:lnSpc>
                <a:spcPts val="4681"/>
              </a:lnSpc>
            </a:pPr>
          </a:p>
          <a:p>
            <a:pPr algn="l" marL="721956" indent="-360978" lvl="1">
              <a:lnSpc>
                <a:spcPts val="4681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Nitrogen Dioxide Sensor:</a:t>
            </a:r>
          </a:p>
          <a:p>
            <a:pPr algn="l">
              <a:lnSpc>
                <a:spcPts val="4681"/>
              </a:lnSpc>
            </a:pPr>
          </a:p>
          <a:p>
            <a:pPr algn="l" marL="721956" indent="-360978" lvl="1">
              <a:lnSpc>
                <a:spcPts val="4681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Ammonia Sensor:</a:t>
            </a:r>
          </a:p>
          <a:p>
            <a:pPr algn="l">
              <a:lnSpc>
                <a:spcPts val="4681"/>
              </a:lnSpc>
            </a:pPr>
          </a:p>
          <a:p>
            <a:pPr algn="l" marL="721956" indent="-360978" lvl="1">
              <a:lnSpc>
                <a:spcPts val="4681"/>
              </a:lnSpc>
              <a:buFont typeface="Arial"/>
              <a:buChar char="•"/>
            </a:pPr>
            <a:r>
              <a:rPr lang="en-US" sz="3343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Methane Sensor: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05518" y="6115401"/>
            <a:ext cx="4521168" cy="2934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1956" indent="-360978" lvl="1">
              <a:lnSpc>
                <a:spcPts val="4681"/>
              </a:lnSpc>
              <a:spcBef>
                <a:spcPct val="0"/>
              </a:spcBef>
              <a:buFont typeface="Arial"/>
              <a:buChar char="•"/>
            </a:pPr>
            <a:r>
              <a:rPr lang="en-US" sz="3343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Thermal Imaging:</a:t>
            </a:r>
          </a:p>
          <a:p>
            <a:pPr algn="l">
              <a:lnSpc>
                <a:spcPts val="4681"/>
              </a:lnSpc>
              <a:spcBef>
                <a:spcPct val="0"/>
              </a:spcBef>
            </a:pPr>
          </a:p>
          <a:p>
            <a:pPr algn="l" marL="721956" indent="-360978" lvl="1">
              <a:lnSpc>
                <a:spcPts val="4681"/>
              </a:lnSpc>
              <a:spcBef>
                <a:spcPct val="0"/>
              </a:spcBef>
              <a:buFont typeface="Arial"/>
              <a:buChar char="•"/>
            </a:pPr>
            <a:r>
              <a:rPr lang="en-US" sz="3343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HEPA:</a:t>
            </a:r>
          </a:p>
          <a:p>
            <a:pPr algn="l">
              <a:lnSpc>
                <a:spcPts val="4681"/>
              </a:lnSpc>
              <a:spcBef>
                <a:spcPct val="0"/>
              </a:spcBef>
            </a:pPr>
          </a:p>
          <a:p>
            <a:pPr algn="l" marL="721956" indent="-360978" lvl="1">
              <a:lnSpc>
                <a:spcPts val="4681"/>
              </a:lnSpc>
              <a:spcBef>
                <a:spcPct val="0"/>
              </a:spcBef>
              <a:buFont typeface="Arial"/>
              <a:buChar char="•"/>
            </a:pPr>
            <a:r>
              <a:rPr lang="en-US" sz="3343" strike="noStrike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MCG: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9E9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598671" y="-1743170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668325" y="4041844"/>
            <a:ext cx="12951349" cy="1974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b="true" sz="11505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-574333">
            <a:off x="-598671" y="5498906"/>
            <a:ext cx="4840370" cy="6758253"/>
          </a:xfrm>
          <a:custGeom>
            <a:avLst/>
            <a:gdLst/>
            <a:ahLst/>
            <a:cxnLst/>
            <a:rect r="r" b="b" t="t" l="l"/>
            <a:pathLst>
              <a:path h="6758253" w="4840370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cap="flat" w="952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6214256" y="9019603"/>
            <a:ext cx="1271574" cy="803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b="true" sz="4743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DAG50unjvBA</dc:identifier>
  <dcterms:modified xsi:type="dcterms:W3CDTF">2011-08-01T06:04:30Z</dcterms:modified>
  <cp:revision>1</cp:revision>
  <dc:title>Presentation of </dc:title>
</cp:coreProperties>
</file>